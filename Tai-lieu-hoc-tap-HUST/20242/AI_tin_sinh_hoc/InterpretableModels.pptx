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9" r:id="rId5"/>
    <p:sldId id="256" r:id="rId6"/>
    <p:sldId id="257" r:id="rId7"/>
    <p:sldId id="273" r:id="rId8"/>
    <p:sldId id="274" r:id="rId9"/>
    <p:sldId id="275" r:id="rId10"/>
    <p:sldId id="276" r:id="rId11"/>
    <p:sldId id="277" r:id="rId12"/>
    <p:sldId id="27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0B212FD-7F37-5542-BC78-67A53DD698D2}" type="datetime1">
              <a:rPr lang="en-US" smtClean="0"/>
              <a:t>4/26/25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4CADB0F-8412-8346-A043-06A5098DBDCC}" type="datetime1">
              <a:rPr lang="en-US" smtClean="0"/>
              <a:t>4/26/25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SzPct val="50000"/>
              <a:buFont typeface="Wingdings" pitchFamily="2" charset="2"/>
              <a:buChar char="q"/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0A7D9CD-ECB7-794A-B726-2BC6A30C21A8}" type="datetime1">
              <a:rPr lang="en-US" smtClean="0"/>
              <a:t>4/26/25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900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2F76193-A1A7-904C-A525-E26D4DA1A4D6}" type="datetime1">
              <a:rPr lang="en-US" smtClean="0"/>
              <a:t>4/26/25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F3C2156-0610-394C-9E30-37BAF7D3EBAE}" type="datetime1">
              <a:rPr lang="en-US" smtClean="0"/>
              <a:t>4/26/25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8E733DE-614E-0C41-B183-E0472582577A}" type="datetime1">
              <a:rPr lang="en-US" smtClean="0"/>
              <a:t>4/26/25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A47C475-B9FD-1A40-920C-10896F755671}" type="datetime1">
              <a:rPr lang="en-US" smtClean="0"/>
              <a:t>4/26/25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0AD48E77-4F7D-6B4B-93A5-154837DECD40}" type="datetime1">
              <a:rPr lang="en-US" smtClean="0"/>
              <a:t>4/26/25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B547C9E-965E-F445-A90D-B3C1E2705EF1}" type="datetime1">
              <a:rPr lang="en-US" smtClean="0"/>
              <a:t>4/26/25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21B40811-0A60-EC49-84DA-A189D564BC1C}" type="datetime1">
              <a:rPr lang="en-US" smtClean="0"/>
              <a:t>4/26/25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149A39F-11A7-7A4B-B0CD-8D66480F6396}" type="datetime1">
              <a:rPr lang="en-US" smtClean="0"/>
              <a:t>4/26/25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C960-835A-4045-A5A2-641407FEECAA}" type="datetime1">
              <a:rPr lang="en-US" altLang="zh-CN" smtClean="0"/>
              <a:t>4/26/25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12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842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851"/>
            <a:ext cx="105156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10600" y="6141246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2BA8C8C8-1391-5B41-AB57-62E47668CADC}" type="datetime1">
              <a:rPr lang="en-US" altLang="zh-CN" smtClean="0"/>
              <a:t>4/26/25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29800" y="6413502"/>
            <a:ext cx="15240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05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25CDB-AFE2-B242-A334-9577DA0A33B4}" type="datetime1">
              <a:rPr lang="en-US" altLang="zh-CN" smtClean="0"/>
              <a:t>4/26/25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9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877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21582" y="6479021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46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223966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3227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8522" y="6474114"/>
            <a:ext cx="1490133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32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879" y="2461846"/>
            <a:ext cx="6021024" cy="1934307"/>
          </a:xfrm>
        </p:spPr>
        <p:txBody>
          <a:bodyPr/>
          <a:lstStyle/>
          <a:p>
            <a:r>
              <a:rPr lang="en-US" sz="4000" b="0" dirty="0"/>
              <a:t>Explainable AI in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6868931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5400" b="0" dirty="0"/>
              <a:t>Explainable AI in Bioinformatics</a:t>
            </a:r>
          </a:p>
          <a:p>
            <a:r>
              <a:rPr lang="en-US" sz="2800" b="0" dirty="0"/>
              <a:t>Interpretable Models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789796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EB6BA-D0BA-8653-EE1C-1ADB1437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AC1147-ED54-5133-93F9-FF4C411F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4F5B4-B500-162C-1AD0-8F31B9248F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 dirty="0"/>
              <a:t>1. Overview</a:t>
            </a:r>
          </a:p>
          <a:p>
            <a:pPr marL="0" indent="0">
              <a:buNone/>
            </a:pPr>
            <a:r>
              <a:rPr lang="en-VN" dirty="0"/>
              <a:t>2. Applications</a:t>
            </a:r>
          </a:p>
          <a:p>
            <a:pPr marL="0" indent="0">
              <a:buNone/>
            </a:pPr>
            <a:r>
              <a:rPr lang="en-VN" dirty="0"/>
              <a:t>3. </a:t>
            </a:r>
            <a:r>
              <a:rPr lang="en-VN"/>
              <a:t>Case studies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735613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AE0C0-142D-1DAF-28F1-20398066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7D5E30-EEF5-9F2F-ECA9-4D2182F1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9710D-D7F0-43BE-C103-AF9C6511C6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 interpretability matters in bioinformatics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High-stakes decisions: diagnosis, drug discovery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Regulatory reasons (FDA, GDPR compliance)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Trust and adoption by biologists/clinicians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Types of interpretability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Intrinsic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(the model itself is interpretable, e.g., decision trees, linear models)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Post-hoc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(explaining black-box models after training, e.g., SHAP, LIME)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Tradeoff between Accuracy and Interpretability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9536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8E2B05-8ABD-8E06-7805-814B3E00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D14202-6205-4A12-1088-AA6B7167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850B0-57E5-C11B-037C-03CFA5B270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Simple, interpretable models:</a:t>
            </a:r>
            <a:endParaRPr lang="en-US" dirty="0"/>
          </a:p>
          <a:p>
            <a:pPr lvl="1"/>
            <a:r>
              <a:rPr lang="en-US" dirty="0"/>
              <a:t>Logistic Regression, Decision Trees</a:t>
            </a:r>
          </a:p>
          <a:p>
            <a:pPr lvl="1"/>
            <a:r>
              <a:rPr lang="en-US" dirty="0"/>
              <a:t>Rule-based models (e.g., </a:t>
            </a:r>
            <a:r>
              <a:rPr lang="en-US" dirty="0" err="1"/>
              <a:t>RuleFit</a:t>
            </a:r>
            <a:r>
              <a:rPr lang="en-US" dirty="0"/>
              <a:t>, RIPPER)</a:t>
            </a:r>
          </a:p>
          <a:p>
            <a:r>
              <a:rPr lang="en-US" b="1" dirty="0"/>
              <a:t>Post-hoc interpretation techniques:</a:t>
            </a:r>
            <a:endParaRPr lang="en-US" dirty="0"/>
          </a:p>
          <a:p>
            <a:pPr lvl="1"/>
            <a:r>
              <a:rPr lang="en-US" b="1" dirty="0"/>
              <a:t>Feature importance</a:t>
            </a:r>
            <a:r>
              <a:rPr lang="en-US" dirty="0"/>
              <a:t> (e.g., permutation importance)</a:t>
            </a:r>
          </a:p>
          <a:p>
            <a:pPr lvl="1"/>
            <a:r>
              <a:rPr lang="en-US" b="1" dirty="0"/>
              <a:t>Local explanations</a:t>
            </a:r>
            <a:r>
              <a:rPr lang="en-US" dirty="0"/>
              <a:t> (e.g., LIME)</a:t>
            </a:r>
          </a:p>
          <a:p>
            <a:pPr lvl="1"/>
            <a:r>
              <a:rPr lang="en-US" b="1" dirty="0"/>
              <a:t>Global explanations</a:t>
            </a:r>
            <a:r>
              <a:rPr lang="en-US" dirty="0"/>
              <a:t> (e.g., feature interaction maps)</a:t>
            </a:r>
          </a:p>
          <a:p>
            <a:pPr lvl="1"/>
            <a:r>
              <a:rPr lang="en-US" b="1" dirty="0"/>
              <a:t>SHAP values</a:t>
            </a:r>
            <a:r>
              <a:rPr lang="en-US" dirty="0"/>
              <a:t> 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b="1" dirty="0"/>
              <a:t>Visualization tools</a:t>
            </a:r>
            <a:endParaRPr lang="en-US" dirty="0"/>
          </a:p>
          <a:p>
            <a:pPr lvl="1"/>
            <a:r>
              <a:rPr lang="en-US" dirty="0"/>
              <a:t>Partial Dependence Plots (PDP)</a:t>
            </a:r>
          </a:p>
          <a:p>
            <a:pPr lvl="1"/>
            <a:r>
              <a:rPr lang="en-US" dirty="0"/>
              <a:t>Individual Conditional Expectation (ICE) plots</a:t>
            </a:r>
          </a:p>
          <a:p>
            <a:pPr lvl="1"/>
            <a:r>
              <a:rPr lang="en-US" dirty="0"/>
              <a:t>Feature attribution heatmaps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2296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D9B3B0-56DC-C2B7-C253-DF6484BC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B0B61-E946-F992-4300-7230ACAF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Applications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EB049-57D9-1E52-90F8-22DF81BD06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Gene expression analysis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Interpreting gene importance in classification (e.g., cancer type prediction)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Single-cell RNA-seq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Identifying key markers from ML models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Biomarker discovery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Feature selection + interpretation for disease biomarkers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Predicting protein structures or functions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Attention maps in protein contact prediction (e.g.,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AlphaFold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interprets internal attention)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Drug response prediction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Feature interpretation in models predicting patient response to treatments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89131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B92730-9291-8FC0-6BE1-A2420291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297EA9-0BD3-1CA0-0E50-8DD7776C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Case studies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85895-91CA-973D-31F8-EE0CCED367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Case Study 1</a:t>
            </a:r>
            <a:r>
              <a:rPr lang="en-US" dirty="0"/>
              <a:t>: Interpreting a Random Forest model predicting breast cancer subtype from gene expression data (using SHAP)</a:t>
            </a:r>
          </a:p>
          <a:p>
            <a:r>
              <a:rPr lang="en-US" b="1" dirty="0"/>
              <a:t>Case Study 2</a:t>
            </a:r>
            <a:r>
              <a:rPr lang="en-US" dirty="0"/>
              <a:t>: Using decision trees to identify patient subgroups based on genomic mutations</a:t>
            </a:r>
          </a:p>
          <a:p>
            <a:r>
              <a:rPr lang="en-US" b="1" dirty="0"/>
              <a:t>Case Study 3</a:t>
            </a:r>
            <a:r>
              <a:rPr lang="en-US" dirty="0"/>
              <a:t>: Interpreting deep learning models in pathology image analysis (CAMs, Grad-CAMs)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1196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7916AB-E4A5-6C03-2242-E16B5183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EA26A6-4363-2E98-1BDC-B6E4624B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Challenging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A041B-BFFA-3915-5560-E29B317D4D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Biological noise vs signal</a:t>
            </a:r>
            <a:r>
              <a:rPr lang="en-US" dirty="0"/>
              <a:t>: Interpretability needs caution.</a:t>
            </a:r>
          </a:p>
          <a:p>
            <a:r>
              <a:rPr lang="en-US" b="1" dirty="0"/>
              <a:t>Correlations ≠ Causations</a:t>
            </a:r>
            <a:r>
              <a:rPr lang="en-US" dirty="0"/>
              <a:t>: "Important" features might not be causal.</a:t>
            </a:r>
          </a:p>
          <a:p>
            <a:r>
              <a:rPr lang="en-US" b="1" dirty="0"/>
              <a:t>Data biases and model artifacts</a:t>
            </a:r>
            <a:r>
              <a:rPr lang="en-US" dirty="0"/>
              <a:t>.</a:t>
            </a:r>
          </a:p>
          <a:p>
            <a:r>
              <a:rPr lang="en-US" b="1" dirty="0"/>
              <a:t>Emerging solutions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Causal inference</a:t>
            </a:r>
          </a:p>
          <a:p>
            <a:pPr lvl="1"/>
            <a:r>
              <a:rPr lang="en-US" dirty="0"/>
              <a:t>Interpretable deep models (e.g., </a:t>
            </a:r>
            <a:r>
              <a:rPr lang="en-US" dirty="0" err="1"/>
              <a:t>ProtoPNet</a:t>
            </a:r>
            <a:r>
              <a:rPr lang="en-US" dirty="0"/>
              <a:t>, Concept Bottleneck Models)</a:t>
            </a:r>
          </a:p>
          <a:p>
            <a:r>
              <a:rPr lang="en-US" b="1" dirty="0"/>
              <a:t>Ethics and Responsible AI in Bioinformatics</a:t>
            </a:r>
            <a:endParaRPr lang="en-US" dirty="0"/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1514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Template_2023" id="{5AC012EB-040C-BB4C-80D5-55FB3FF6CC85}" vid="{D36FEF17-F157-2E4E-8E6C-6AE249DD8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AC4F83E9069D43AFA594D7F1D96885" ma:contentTypeVersion="8" ma:contentTypeDescription="Create a new document." ma:contentTypeScope="" ma:versionID="24b910ec13695ee9fb32ebbe69a2b590">
  <xsd:schema xmlns:xsd="http://www.w3.org/2001/XMLSchema" xmlns:xs="http://www.w3.org/2001/XMLSchema" xmlns:p="http://schemas.microsoft.com/office/2006/metadata/properties" xmlns:ns2="d0a6ddea-004a-4b16-a170-7c91a96eeb9b" targetNamespace="http://schemas.microsoft.com/office/2006/metadata/properties" ma:root="true" ma:fieldsID="cc526688b5b1aa340d87819f0c7af8a7" ns2:_="">
    <xsd:import namespace="d0a6ddea-004a-4b16-a170-7c91a96eeb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a6ddea-004a-4b16-a170-7c91a96eeb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B58791-85F5-4652-BF3C-D3C744B910B1}"/>
</file>

<file path=customXml/itemProps2.xml><?xml version="1.0" encoding="utf-8"?>
<ds:datastoreItem xmlns:ds="http://schemas.openxmlformats.org/officeDocument/2006/customXml" ds:itemID="{26BE9A2D-7492-4A3B-846A-BB63B0B87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3733DD-EE03-449C-88A5-8AB9EEF5C65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362</Words>
  <Application>Microsoft Macintosh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Lato</vt:lpstr>
      <vt:lpstr>Wingdings</vt:lpstr>
      <vt:lpstr>Office Theme</vt:lpstr>
      <vt:lpstr>PowerPoint Presentation</vt:lpstr>
      <vt:lpstr>Explainable AI in Bioinformatics</vt:lpstr>
      <vt:lpstr>PowerPoint Presentation</vt:lpstr>
      <vt:lpstr>Content</vt:lpstr>
      <vt:lpstr>Overview</vt:lpstr>
      <vt:lpstr>PowerPoint Presentation</vt:lpstr>
      <vt:lpstr>Applications</vt:lpstr>
      <vt:lpstr>Case studies</vt:lpstr>
      <vt:lpstr>Challenging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Duc Anh</dc:creator>
  <cp:lastModifiedBy>Anh Nguyen</cp:lastModifiedBy>
  <cp:revision>40</cp:revision>
  <dcterms:created xsi:type="dcterms:W3CDTF">2024-08-25T10:17:10Z</dcterms:created>
  <dcterms:modified xsi:type="dcterms:W3CDTF">2025-04-26T02:25:34Z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0x01010078AC4F83E9069D43AFA594D7F1D96885</vt:lpwstr>
  </property>
</Properties>
</file>