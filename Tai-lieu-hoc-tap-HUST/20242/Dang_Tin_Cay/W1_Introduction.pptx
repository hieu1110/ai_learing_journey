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9" r:id="rId5"/>
    <p:sldId id="256" r:id="rId6"/>
    <p:sldId id="257" r:id="rId7"/>
    <p:sldId id="844" r:id="rId8"/>
    <p:sldId id="845" r:id="rId9"/>
    <p:sldId id="841" r:id="rId10"/>
    <p:sldId id="842" r:id="rId11"/>
    <p:sldId id="846" r:id="rId12"/>
    <p:sldId id="847" r:id="rId13"/>
    <p:sldId id="848" r:id="rId14"/>
    <p:sldId id="843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CDBFD1-8AD9-7340-B791-B0166ED58145}" type="doc">
      <dgm:prSet loTypeId="urn:microsoft.com/office/officeart/2005/8/layout/radial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C4DAAA-A637-CF4F-A221-9900FA8F5597}">
      <dgm:prSet phldrT="[Text]"/>
      <dgm:spPr/>
      <dgm:t>
        <a:bodyPr/>
        <a:lstStyle/>
        <a:p>
          <a:r>
            <a:rPr lang="en-US" dirty="0"/>
            <a:t>Trustworthy AI</a:t>
          </a:r>
        </a:p>
      </dgm:t>
    </dgm:pt>
    <dgm:pt modelId="{ADD8EF83-109D-D748-96EA-DEFEC25F7A9D}" type="parTrans" cxnId="{A6E72870-5656-364B-8FB7-B4F3E92D5AF8}">
      <dgm:prSet/>
      <dgm:spPr/>
      <dgm:t>
        <a:bodyPr/>
        <a:lstStyle/>
        <a:p>
          <a:endParaRPr lang="en-US"/>
        </a:p>
      </dgm:t>
    </dgm:pt>
    <dgm:pt modelId="{B8A5AD17-F81C-3648-9388-0B9EB770B8C6}" type="sibTrans" cxnId="{A6E72870-5656-364B-8FB7-B4F3E92D5AF8}">
      <dgm:prSet/>
      <dgm:spPr/>
      <dgm:t>
        <a:bodyPr/>
        <a:lstStyle/>
        <a:p>
          <a:endParaRPr lang="en-US"/>
        </a:p>
      </dgm:t>
    </dgm:pt>
    <dgm:pt modelId="{942728E0-457F-5A4D-9A7E-A19B95734CAA}">
      <dgm:prSet phldrT="[Text]"/>
      <dgm:spPr/>
      <dgm:t>
        <a:bodyPr/>
        <a:lstStyle/>
        <a:p>
          <a:r>
            <a:rPr lang="en-US" dirty="0"/>
            <a:t>Reliable</a:t>
          </a:r>
        </a:p>
      </dgm:t>
    </dgm:pt>
    <dgm:pt modelId="{5188DA3C-72A5-704D-A054-4C213FCBB5B3}" type="parTrans" cxnId="{9E4E1889-014E-094E-802F-36729E762943}">
      <dgm:prSet/>
      <dgm:spPr/>
      <dgm:t>
        <a:bodyPr/>
        <a:lstStyle/>
        <a:p>
          <a:endParaRPr lang="en-US"/>
        </a:p>
      </dgm:t>
    </dgm:pt>
    <dgm:pt modelId="{FC1252BE-EDBD-EC46-93F8-1269DDE5633A}" type="sibTrans" cxnId="{9E4E1889-014E-094E-802F-36729E762943}">
      <dgm:prSet/>
      <dgm:spPr/>
      <dgm:t>
        <a:bodyPr/>
        <a:lstStyle/>
        <a:p>
          <a:endParaRPr lang="en-US"/>
        </a:p>
      </dgm:t>
    </dgm:pt>
    <dgm:pt modelId="{6F004A59-D08C-704B-95E5-DD86DE70E8DB}">
      <dgm:prSet phldrT="[Text]"/>
      <dgm:spPr/>
      <dgm:t>
        <a:bodyPr/>
        <a:lstStyle/>
        <a:p>
          <a:r>
            <a:rPr lang="en-US" dirty="0"/>
            <a:t>Transparent</a:t>
          </a:r>
        </a:p>
      </dgm:t>
    </dgm:pt>
    <dgm:pt modelId="{53435ED2-5D03-EA4F-AF00-5F60663D83B7}" type="parTrans" cxnId="{C7181C82-5F46-524F-BC42-DA177A67573D}">
      <dgm:prSet/>
      <dgm:spPr/>
      <dgm:t>
        <a:bodyPr/>
        <a:lstStyle/>
        <a:p>
          <a:endParaRPr lang="en-US"/>
        </a:p>
      </dgm:t>
    </dgm:pt>
    <dgm:pt modelId="{EB46586C-8F05-3C42-9219-F64ECC63CAC0}" type="sibTrans" cxnId="{C7181C82-5F46-524F-BC42-DA177A67573D}">
      <dgm:prSet/>
      <dgm:spPr/>
      <dgm:t>
        <a:bodyPr/>
        <a:lstStyle/>
        <a:p>
          <a:endParaRPr lang="en-US"/>
        </a:p>
      </dgm:t>
    </dgm:pt>
    <dgm:pt modelId="{7EEDE7FC-8A7E-8346-9DB7-08F50B92FDB3}">
      <dgm:prSet phldrT="[Text]"/>
      <dgm:spPr/>
      <dgm:t>
        <a:bodyPr/>
        <a:lstStyle/>
        <a:p>
          <a:r>
            <a:rPr lang="en-US" dirty="0"/>
            <a:t>Fair</a:t>
          </a:r>
        </a:p>
      </dgm:t>
    </dgm:pt>
    <dgm:pt modelId="{46B071E0-0EF5-5240-BCCD-36B9555CB5DC}" type="parTrans" cxnId="{F517ACC4-61AD-214A-9F5D-14DCAC6D7E6F}">
      <dgm:prSet/>
      <dgm:spPr/>
      <dgm:t>
        <a:bodyPr/>
        <a:lstStyle/>
        <a:p>
          <a:endParaRPr lang="en-US"/>
        </a:p>
      </dgm:t>
    </dgm:pt>
    <dgm:pt modelId="{7EA5C8E0-2AD5-E940-B571-C8279B4DFA19}" type="sibTrans" cxnId="{F517ACC4-61AD-214A-9F5D-14DCAC6D7E6F}">
      <dgm:prSet/>
      <dgm:spPr/>
      <dgm:t>
        <a:bodyPr/>
        <a:lstStyle/>
        <a:p>
          <a:endParaRPr lang="en-US"/>
        </a:p>
      </dgm:t>
    </dgm:pt>
    <dgm:pt modelId="{A8FB8EE3-6A94-054B-961F-FAC1CE80F269}">
      <dgm:prSet phldrT="[Text]"/>
      <dgm:spPr/>
      <dgm:t>
        <a:bodyPr/>
        <a:lstStyle/>
        <a:p>
          <a:r>
            <a:rPr lang="en-US" dirty="0"/>
            <a:t>Ethics</a:t>
          </a:r>
        </a:p>
      </dgm:t>
    </dgm:pt>
    <dgm:pt modelId="{A67BABF8-F053-DC45-9DC2-1283242D0C17}" type="parTrans" cxnId="{81939826-246C-6740-8DE5-A48408060874}">
      <dgm:prSet/>
      <dgm:spPr/>
      <dgm:t>
        <a:bodyPr/>
        <a:lstStyle/>
        <a:p>
          <a:endParaRPr lang="en-US"/>
        </a:p>
      </dgm:t>
    </dgm:pt>
    <dgm:pt modelId="{0973FD7B-AC3A-6949-ACEC-60455326B119}" type="sibTrans" cxnId="{81939826-246C-6740-8DE5-A48408060874}">
      <dgm:prSet/>
      <dgm:spPr/>
      <dgm:t>
        <a:bodyPr/>
        <a:lstStyle/>
        <a:p>
          <a:endParaRPr lang="en-US"/>
        </a:p>
      </dgm:t>
    </dgm:pt>
    <dgm:pt modelId="{5FB3B9E9-7F8C-474A-9B41-F11B60210B22}" type="pres">
      <dgm:prSet presAssocID="{3BCDBFD1-8AD9-7340-B791-B0166ED5814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1C30957-01C6-DD4B-AB6D-D590CA1D9312}" type="pres">
      <dgm:prSet presAssocID="{FCC4DAAA-A637-CF4F-A221-9900FA8F5597}" presName="centerShape" presStyleLbl="node0" presStyleIdx="0" presStyleCnt="1"/>
      <dgm:spPr/>
    </dgm:pt>
    <dgm:pt modelId="{93D03B61-9BBB-194C-A11A-CE3012512490}" type="pres">
      <dgm:prSet presAssocID="{5188DA3C-72A5-704D-A054-4C213FCBB5B3}" presName="Name9" presStyleLbl="parChTrans1D2" presStyleIdx="0" presStyleCnt="4"/>
      <dgm:spPr/>
    </dgm:pt>
    <dgm:pt modelId="{112DF014-F4CD-6340-8D54-11ED2770C0A6}" type="pres">
      <dgm:prSet presAssocID="{5188DA3C-72A5-704D-A054-4C213FCBB5B3}" presName="connTx" presStyleLbl="parChTrans1D2" presStyleIdx="0" presStyleCnt="4"/>
      <dgm:spPr/>
    </dgm:pt>
    <dgm:pt modelId="{950F6B1D-1E9A-1446-830A-C3DAA0B00C39}" type="pres">
      <dgm:prSet presAssocID="{942728E0-457F-5A4D-9A7E-A19B95734CAA}" presName="node" presStyleLbl="node1" presStyleIdx="0" presStyleCnt="4">
        <dgm:presLayoutVars>
          <dgm:bulletEnabled val="1"/>
        </dgm:presLayoutVars>
      </dgm:prSet>
      <dgm:spPr/>
    </dgm:pt>
    <dgm:pt modelId="{7FBF97C2-78E8-014B-ADDA-A42B93B55A1A}" type="pres">
      <dgm:prSet presAssocID="{53435ED2-5D03-EA4F-AF00-5F60663D83B7}" presName="Name9" presStyleLbl="parChTrans1D2" presStyleIdx="1" presStyleCnt="4"/>
      <dgm:spPr/>
    </dgm:pt>
    <dgm:pt modelId="{D52BFFB3-F2C2-E844-B041-F0F24EC2CC82}" type="pres">
      <dgm:prSet presAssocID="{53435ED2-5D03-EA4F-AF00-5F60663D83B7}" presName="connTx" presStyleLbl="parChTrans1D2" presStyleIdx="1" presStyleCnt="4"/>
      <dgm:spPr/>
    </dgm:pt>
    <dgm:pt modelId="{26FCBC75-FF84-FA43-947D-88C99CC470C9}" type="pres">
      <dgm:prSet presAssocID="{6F004A59-D08C-704B-95E5-DD86DE70E8DB}" presName="node" presStyleLbl="node1" presStyleIdx="1" presStyleCnt="4">
        <dgm:presLayoutVars>
          <dgm:bulletEnabled val="1"/>
        </dgm:presLayoutVars>
      </dgm:prSet>
      <dgm:spPr/>
    </dgm:pt>
    <dgm:pt modelId="{EFEBE900-CD90-854E-871C-1991DF1D21D2}" type="pres">
      <dgm:prSet presAssocID="{46B071E0-0EF5-5240-BCCD-36B9555CB5DC}" presName="Name9" presStyleLbl="parChTrans1D2" presStyleIdx="2" presStyleCnt="4"/>
      <dgm:spPr/>
    </dgm:pt>
    <dgm:pt modelId="{0A98D533-D947-8549-8406-085014B89074}" type="pres">
      <dgm:prSet presAssocID="{46B071E0-0EF5-5240-BCCD-36B9555CB5DC}" presName="connTx" presStyleLbl="parChTrans1D2" presStyleIdx="2" presStyleCnt="4"/>
      <dgm:spPr/>
    </dgm:pt>
    <dgm:pt modelId="{0458EBD4-BC74-384A-A441-B63CAF942D2D}" type="pres">
      <dgm:prSet presAssocID="{7EEDE7FC-8A7E-8346-9DB7-08F50B92FDB3}" presName="node" presStyleLbl="node1" presStyleIdx="2" presStyleCnt="4">
        <dgm:presLayoutVars>
          <dgm:bulletEnabled val="1"/>
        </dgm:presLayoutVars>
      </dgm:prSet>
      <dgm:spPr/>
    </dgm:pt>
    <dgm:pt modelId="{5581E398-CAF4-5B48-A5F4-FAC08B9DB702}" type="pres">
      <dgm:prSet presAssocID="{A67BABF8-F053-DC45-9DC2-1283242D0C17}" presName="Name9" presStyleLbl="parChTrans1D2" presStyleIdx="3" presStyleCnt="4"/>
      <dgm:spPr/>
    </dgm:pt>
    <dgm:pt modelId="{F7C340A6-18EB-774A-A6FD-006427576543}" type="pres">
      <dgm:prSet presAssocID="{A67BABF8-F053-DC45-9DC2-1283242D0C17}" presName="connTx" presStyleLbl="parChTrans1D2" presStyleIdx="3" presStyleCnt="4"/>
      <dgm:spPr/>
    </dgm:pt>
    <dgm:pt modelId="{06FF192E-B6E6-E941-87F5-C53A00A0A173}" type="pres">
      <dgm:prSet presAssocID="{A8FB8EE3-6A94-054B-961F-FAC1CE80F269}" presName="node" presStyleLbl="node1" presStyleIdx="3" presStyleCnt="4">
        <dgm:presLayoutVars>
          <dgm:bulletEnabled val="1"/>
        </dgm:presLayoutVars>
      </dgm:prSet>
      <dgm:spPr/>
    </dgm:pt>
  </dgm:ptLst>
  <dgm:cxnLst>
    <dgm:cxn modelId="{8947CB0F-AB15-9F44-AC60-F2D09199E21F}" type="presOf" srcId="{A67BABF8-F053-DC45-9DC2-1283242D0C17}" destId="{5581E398-CAF4-5B48-A5F4-FAC08B9DB702}" srcOrd="0" destOrd="0" presId="urn:microsoft.com/office/officeart/2005/8/layout/radial1"/>
    <dgm:cxn modelId="{284A5513-3706-4748-B8EA-6E9A6315E422}" type="presOf" srcId="{3BCDBFD1-8AD9-7340-B791-B0166ED58145}" destId="{5FB3B9E9-7F8C-474A-9B41-F11B60210B22}" srcOrd="0" destOrd="0" presId="urn:microsoft.com/office/officeart/2005/8/layout/radial1"/>
    <dgm:cxn modelId="{F1663519-1688-0C4B-BBD9-0A33F9DC3176}" type="presOf" srcId="{53435ED2-5D03-EA4F-AF00-5F60663D83B7}" destId="{7FBF97C2-78E8-014B-ADDA-A42B93B55A1A}" srcOrd="0" destOrd="0" presId="urn:microsoft.com/office/officeart/2005/8/layout/radial1"/>
    <dgm:cxn modelId="{57070224-45ED-824F-AAEB-794F119BF5AB}" type="presOf" srcId="{A8FB8EE3-6A94-054B-961F-FAC1CE80F269}" destId="{06FF192E-B6E6-E941-87F5-C53A00A0A173}" srcOrd="0" destOrd="0" presId="urn:microsoft.com/office/officeart/2005/8/layout/radial1"/>
    <dgm:cxn modelId="{81939826-246C-6740-8DE5-A48408060874}" srcId="{FCC4DAAA-A637-CF4F-A221-9900FA8F5597}" destId="{A8FB8EE3-6A94-054B-961F-FAC1CE80F269}" srcOrd="3" destOrd="0" parTransId="{A67BABF8-F053-DC45-9DC2-1283242D0C17}" sibTransId="{0973FD7B-AC3A-6949-ACEC-60455326B119}"/>
    <dgm:cxn modelId="{0D90404C-155B-A04C-B790-C1147D6904F2}" type="presOf" srcId="{FCC4DAAA-A637-CF4F-A221-9900FA8F5597}" destId="{F1C30957-01C6-DD4B-AB6D-D590CA1D9312}" srcOrd="0" destOrd="0" presId="urn:microsoft.com/office/officeart/2005/8/layout/radial1"/>
    <dgm:cxn modelId="{A6E72870-5656-364B-8FB7-B4F3E92D5AF8}" srcId="{3BCDBFD1-8AD9-7340-B791-B0166ED58145}" destId="{FCC4DAAA-A637-CF4F-A221-9900FA8F5597}" srcOrd="0" destOrd="0" parTransId="{ADD8EF83-109D-D748-96EA-DEFEC25F7A9D}" sibTransId="{B8A5AD17-F81C-3648-9388-0B9EB770B8C6}"/>
    <dgm:cxn modelId="{3F062473-EA8A-764E-8FA9-5BA49C38A2B8}" type="presOf" srcId="{5188DA3C-72A5-704D-A054-4C213FCBB5B3}" destId="{112DF014-F4CD-6340-8D54-11ED2770C0A6}" srcOrd="1" destOrd="0" presId="urn:microsoft.com/office/officeart/2005/8/layout/radial1"/>
    <dgm:cxn modelId="{C7181C82-5F46-524F-BC42-DA177A67573D}" srcId="{FCC4DAAA-A637-CF4F-A221-9900FA8F5597}" destId="{6F004A59-D08C-704B-95E5-DD86DE70E8DB}" srcOrd="1" destOrd="0" parTransId="{53435ED2-5D03-EA4F-AF00-5F60663D83B7}" sibTransId="{EB46586C-8F05-3C42-9219-F64ECC63CAC0}"/>
    <dgm:cxn modelId="{90183783-A372-884C-9505-AFED85DA11AC}" type="presOf" srcId="{7EEDE7FC-8A7E-8346-9DB7-08F50B92FDB3}" destId="{0458EBD4-BC74-384A-A441-B63CAF942D2D}" srcOrd="0" destOrd="0" presId="urn:microsoft.com/office/officeart/2005/8/layout/radial1"/>
    <dgm:cxn modelId="{8DC61088-AFD8-8C4F-9C32-CEB3EE2D719C}" type="presOf" srcId="{6F004A59-D08C-704B-95E5-DD86DE70E8DB}" destId="{26FCBC75-FF84-FA43-947D-88C99CC470C9}" srcOrd="0" destOrd="0" presId="urn:microsoft.com/office/officeart/2005/8/layout/radial1"/>
    <dgm:cxn modelId="{9E4E1889-014E-094E-802F-36729E762943}" srcId="{FCC4DAAA-A637-CF4F-A221-9900FA8F5597}" destId="{942728E0-457F-5A4D-9A7E-A19B95734CAA}" srcOrd="0" destOrd="0" parTransId="{5188DA3C-72A5-704D-A054-4C213FCBB5B3}" sibTransId="{FC1252BE-EDBD-EC46-93F8-1269DDE5633A}"/>
    <dgm:cxn modelId="{172BBDA1-20C4-6C42-BCE3-04E600022813}" type="presOf" srcId="{942728E0-457F-5A4D-9A7E-A19B95734CAA}" destId="{950F6B1D-1E9A-1446-830A-C3DAA0B00C39}" srcOrd="0" destOrd="0" presId="urn:microsoft.com/office/officeart/2005/8/layout/radial1"/>
    <dgm:cxn modelId="{3F3037B0-8AA9-5E44-8909-4C83B7FD73E3}" type="presOf" srcId="{5188DA3C-72A5-704D-A054-4C213FCBB5B3}" destId="{93D03B61-9BBB-194C-A11A-CE3012512490}" srcOrd="0" destOrd="0" presId="urn:microsoft.com/office/officeart/2005/8/layout/radial1"/>
    <dgm:cxn modelId="{C0A580B2-49B0-1341-9692-42BA98FBF48D}" type="presOf" srcId="{46B071E0-0EF5-5240-BCCD-36B9555CB5DC}" destId="{0A98D533-D947-8549-8406-085014B89074}" srcOrd="1" destOrd="0" presId="urn:microsoft.com/office/officeart/2005/8/layout/radial1"/>
    <dgm:cxn modelId="{F517ACC4-61AD-214A-9F5D-14DCAC6D7E6F}" srcId="{FCC4DAAA-A637-CF4F-A221-9900FA8F5597}" destId="{7EEDE7FC-8A7E-8346-9DB7-08F50B92FDB3}" srcOrd="2" destOrd="0" parTransId="{46B071E0-0EF5-5240-BCCD-36B9555CB5DC}" sibTransId="{7EA5C8E0-2AD5-E940-B571-C8279B4DFA19}"/>
    <dgm:cxn modelId="{1C6020CF-9293-6044-8299-E79EEDBB1F70}" type="presOf" srcId="{A67BABF8-F053-DC45-9DC2-1283242D0C17}" destId="{F7C340A6-18EB-774A-A6FD-006427576543}" srcOrd="1" destOrd="0" presId="urn:microsoft.com/office/officeart/2005/8/layout/radial1"/>
    <dgm:cxn modelId="{90A346E5-CDFA-494A-8394-6DC7BCE6E600}" type="presOf" srcId="{46B071E0-0EF5-5240-BCCD-36B9555CB5DC}" destId="{EFEBE900-CD90-854E-871C-1991DF1D21D2}" srcOrd="0" destOrd="0" presId="urn:microsoft.com/office/officeart/2005/8/layout/radial1"/>
    <dgm:cxn modelId="{730B69EE-DF09-8C4C-9884-2EF6E4206F80}" type="presOf" srcId="{53435ED2-5D03-EA4F-AF00-5F60663D83B7}" destId="{D52BFFB3-F2C2-E844-B041-F0F24EC2CC82}" srcOrd="1" destOrd="0" presId="urn:microsoft.com/office/officeart/2005/8/layout/radial1"/>
    <dgm:cxn modelId="{00D6F97E-BFE7-0F4A-9451-06FD9851F2BF}" type="presParOf" srcId="{5FB3B9E9-7F8C-474A-9B41-F11B60210B22}" destId="{F1C30957-01C6-DD4B-AB6D-D590CA1D9312}" srcOrd="0" destOrd="0" presId="urn:microsoft.com/office/officeart/2005/8/layout/radial1"/>
    <dgm:cxn modelId="{41A2F894-0ECF-6A45-B1A6-490D5F730A19}" type="presParOf" srcId="{5FB3B9E9-7F8C-474A-9B41-F11B60210B22}" destId="{93D03B61-9BBB-194C-A11A-CE3012512490}" srcOrd="1" destOrd="0" presId="urn:microsoft.com/office/officeart/2005/8/layout/radial1"/>
    <dgm:cxn modelId="{874E792B-27CE-894A-9DEE-EBE1F6DA968A}" type="presParOf" srcId="{93D03B61-9BBB-194C-A11A-CE3012512490}" destId="{112DF014-F4CD-6340-8D54-11ED2770C0A6}" srcOrd="0" destOrd="0" presId="urn:microsoft.com/office/officeart/2005/8/layout/radial1"/>
    <dgm:cxn modelId="{404D65D3-9705-1842-82AF-A393E8485A5E}" type="presParOf" srcId="{5FB3B9E9-7F8C-474A-9B41-F11B60210B22}" destId="{950F6B1D-1E9A-1446-830A-C3DAA0B00C39}" srcOrd="2" destOrd="0" presId="urn:microsoft.com/office/officeart/2005/8/layout/radial1"/>
    <dgm:cxn modelId="{1700393C-319A-6446-993D-FF3CCFF59714}" type="presParOf" srcId="{5FB3B9E9-7F8C-474A-9B41-F11B60210B22}" destId="{7FBF97C2-78E8-014B-ADDA-A42B93B55A1A}" srcOrd="3" destOrd="0" presId="urn:microsoft.com/office/officeart/2005/8/layout/radial1"/>
    <dgm:cxn modelId="{061B612D-C2CF-F243-9E46-30764CC58E8D}" type="presParOf" srcId="{7FBF97C2-78E8-014B-ADDA-A42B93B55A1A}" destId="{D52BFFB3-F2C2-E844-B041-F0F24EC2CC82}" srcOrd="0" destOrd="0" presId="urn:microsoft.com/office/officeart/2005/8/layout/radial1"/>
    <dgm:cxn modelId="{61020C7F-62A4-4F48-AC2C-D33A183C1E00}" type="presParOf" srcId="{5FB3B9E9-7F8C-474A-9B41-F11B60210B22}" destId="{26FCBC75-FF84-FA43-947D-88C99CC470C9}" srcOrd="4" destOrd="0" presId="urn:microsoft.com/office/officeart/2005/8/layout/radial1"/>
    <dgm:cxn modelId="{821CBD59-B7EB-5B4A-9A60-282428A99B1B}" type="presParOf" srcId="{5FB3B9E9-7F8C-474A-9B41-F11B60210B22}" destId="{EFEBE900-CD90-854E-871C-1991DF1D21D2}" srcOrd="5" destOrd="0" presId="urn:microsoft.com/office/officeart/2005/8/layout/radial1"/>
    <dgm:cxn modelId="{77DC83A1-5723-F049-A2A0-C95B2B58D1A9}" type="presParOf" srcId="{EFEBE900-CD90-854E-871C-1991DF1D21D2}" destId="{0A98D533-D947-8549-8406-085014B89074}" srcOrd="0" destOrd="0" presId="urn:microsoft.com/office/officeart/2005/8/layout/radial1"/>
    <dgm:cxn modelId="{AA767F42-A59E-F747-AFEB-BD0403E00342}" type="presParOf" srcId="{5FB3B9E9-7F8C-474A-9B41-F11B60210B22}" destId="{0458EBD4-BC74-384A-A441-B63CAF942D2D}" srcOrd="6" destOrd="0" presId="urn:microsoft.com/office/officeart/2005/8/layout/radial1"/>
    <dgm:cxn modelId="{F26B6A89-28C2-7E4F-9E99-FFACD8175074}" type="presParOf" srcId="{5FB3B9E9-7F8C-474A-9B41-F11B60210B22}" destId="{5581E398-CAF4-5B48-A5F4-FAC08B9DB702}" srcOrd="7" destOrd="0" presId="urn:microsoft.com/office/officeart/2005/8/layout/radial1"/>
    <dgm:cxn modelId="{F2233637-729A-6A4A-B29D-98841A401A3F}" type="presParOf" srcId="{5581E398-CAF4-5B48-A5F4-FAC08B9DB702}" destId="{F7C340A6-18EB-774A-A6FD-006427576543}" srcOrd="0" destOrd="0" presId="urn:microsoft.com/office/officeart/2005/8/layout/radial1"/>
    <dgm:cxn modelId="{82D9EC1A-4B68-B145-B2A0-D34864713921}" type="presParOf" srcId="{5FB3B9E9-7F8C-474A-9B41-F11B60210B22}" destId="{06FF192E-B6E6-E941-87F5-C53A00A0A173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30957-01C6-DD4B-AB6D-D590CA1D9312}">
      <dsp:nvSpPr>
        <dsp:cNvPr id="0" name=""/>
        <dsp:cNvSpPr/>
      </dsp:nvSpPr>
      <dsp:spPr>
        <a:xfrm>
          <a:off x="2502808" y="1421554"/>
          <a:ext cx="1080661" cy="10806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Trustworthy AI</a:t>
          </a:r>
        </a:p>
      </dsp:txBody>
      <dsp:txXfrm>
        <a:off x="2661067" y="1579813"/>
        <a:ext cx="764143" cy="764143"/>
      </dsp:txXfrm>
    </dsp:sp>
    <dsp:sp modelId="{93D03B61-9BBB-194C-A11A-CE3012512490}">
      <dsp:nvSpPr>
        <dsp:cNvPr id="0" name=""/>
        <dsp:cNvSpPr/>
      </dsp:nvSpPr>
      <dsp:spPr>
        <a:xfrm rot="16200000">
          <a:off x="2880223" y="1242659"/>
          <a:ext cx="325830" cy="31960"/>
        </a:xfrm>
        <a:custGeom>
          <a:avLst/>
          <a:gdLst/>
          <a:ahLst/>
          <a:cxnLst/>
          <a:rect l="0" t="0" r="0" b="0"/>
          <a:pathLst>
            <a:path>
              <a:moveTo>
                <a:pt x="0" y="15980"/>
              </a:moveTo>
              <a:lnTo>
                <a:pt x="325830" y="159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4993" y="1250493"/>
        <a:ext cx="16291" cy="16291"/>
      </dsp:txXfrm>
    </dsp:sp>
    <dsp:sp modelId="{950F6B1D-1E9A-1446-830A-C3DAA0B00C39}">
      <dsp:nvSpPr>
        <dsp:cNvPr id="0" name=""/>
        <dsp:cNvSpPr/>
      </dsp:nvSpPr>
      <dsp:spPr>
        <a:xfrm>
          <a:off x="2502808" y="15063"/>
          <a:ext cx="1080661" cy="10806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Reliable</a:t>
          </a:r>
        </a:p>
      </dsp:txBody>
      <dsp:txXfrm>
        <a:off x="2661067" y="173322"/>
        <a:ext cx="764143" cy="764143"/>
      </dsp:txXfrm>
    </dsp:sp>
    <dsp:sp modelId="{7FBF97C2-78E8-014B-ADDA-A42B93B55A1A}">
      <dsp:nvSpPr>
        <dsp:cNvPr id="0" name=""/>
        <dsp:cNvSpPr/>
      </dsp:nvSpPr>
      <dsp:spPr>
        <a:xfrm>
          <a:off x="3583469" y="1945904"/>
          <a:ext cx="325830" cy="31960"/>
        </a:xfrm>
        <a:custGeom>
          <a:avLst/>
          <a:gdLst/>
          <a:ahLst/>
          <a:cxnLst/>
          <a:rect l="0" t="0" r="0" b="0"/>
          <a:pathLst>
            <a:path>
              <a:moveTo>
                <a:pt x="0" y="15980"/>
              </a:moveTo>
              <a:lnTo>
                <a:pt x="325830" y="159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38238" y="1953739"/>
        <a:ext cx="16291" cy="16291"/>
      </dsp:txXfrm>
    </dsp:sp>
    <dsp:sp modelId="{26FCBC75-FF84-FA43-947D-88C99CC470C9}">
      <dsp:nvSpPr>
        <dsp:cNvPr id="0" name=""/>
        <dsp:cNvSpPr/>
      </dsp:nvSpPr>
      <dsp:spPr>
        <a:xfrm>
          <a:off x="3909299" y="1421554"/>
          <a:ext cx="1080661" cy="10806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Transparent</a:t>
          </a:r>
        </a:p>
      </dsp:txBody>
      <dsp:txXfrm>
        <a:off x="4067558" y="1579813"/>
        <a:ext cx="764143" cy="764143"/>
      </dsp:txXfrm>
    </dsp:sp>
    <dsp:sp modelId="{EFEBE900-CD90-854E-871C-1991DF1D21D2}">
      <dsp:nvSpPr>
        <dsp:cNvPr id="0" name=""/>
        <dsp:cNvSpPr/>
      </dsp:nvSpPr>
      <dsp:spPr>
        <a:xfrm rot="5400000">
          <a:off x="2880223" y="2649150"/>
          <a:ext cx="325830" cy="31960"/>
        </a:xfrm>
        <a:custGeom>
          <a:avLst/>
          <a:gdLst/>
          <a:ahLst/>
          <a:cxnLst/>
          <a:rect l="0" t="0" r="0" b="0"/>
          <a:pathLst>
            <a:path>
              <a:moveTo>
                <a:pt x="0" y="15980"/>
              </a:moveTo>
              <a:lnTo>
                <a:pt x="325830" y="159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4993" y="2656984"/>
        <a:ext cx="16291" cy="16291"/>
      </dsp:txXfrm>
    </dsp:sp>
    <dsp:sp modelId="{0458EBD4-BC74-384A-A441-B63CAF942D2D}">
      <dsp:nvSpPr>
        <dsp:cNvPr id="0" name=""/>
        <dsp:cNvSpPr/>
      </dsp:nvSpPr>
      <dsp:spPr>
        <a:xfrm>
          <a:off x="2502808" y="2828045"/>
          <a:ext cx="1080661" cy="10806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Fair</a:t>
          </a:r>
        </a:p>
      </dsp:txBody>
      <dsp:txXfrm>
        <a:off x="2661067" y="2986304"/>
        <a:ext cx="764143" cy="764143"/>
      </dsp:txXfrm>
    </dsp:sp>
    <dsp:sp modelId="{5581E398-CAF4-5B48-A5F4-FAC08B9DB702}">
      <dsp:nvSpPr>
        <dsp:cNvPr id="0" name=""/>
        <dsp:cNvSpPr/>
      </dsp:nvSpPr>
      <dsp:spPr>
        <a:xfrm rot="10800000">
          <a:off x="2176978" y="1945904"/>
          <a:ext cx="325830" cy="31960"/>
        </a:xfrm>
        <a:custGeom>
          <a:avLst/>
          <a:gdLst/>
          <a:ahLst/>
          <a:cxnLst/>
          <a:rect l="0" t="0" r="0" b="0"/>
          <a:pathLst>
            <a:path>
              <a:moveTo>
                <a:pt x="0" y="15980"/>
              </a:moveTo>
              <a:lnTo>
                <a:pt x="325830" y="159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2331747" y="1953739"/>
        <a:ext cx="16291" cy="16291"/>
      </dsp:txXfrm>
    </dsp:sp>
    <dsp:sp modelId="{06FF192E-B6E6-E941-87F5-C53A00A0A173}">
      <dsp:nvSpPr>
        <dsp:cNvPr id="0" name=""/>
        <dsp:cNvSpPr/>
      </dsp:nvSpPr>
      <dsp:spPr>
        <a:xfrm>
          <a:off x="1096317" y="1421554"/>
          <a:ext cx="1080661" cy="10806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Ethics</a:t>
          </a:r>
        </a:p>
      </dsp:txBody>
      <dsp:txXfrm>
        <a:off x="1254576" y="1579813"/>
        <a:ext cx="764143" cy="764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0B212FD-7F37-5542-BC78-67A53DD698D2}" type="datetime1">
              <a:rPr lang="en-US" smtClean="0"/>
              <a:t>2/22/25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4CADB0F-8412-8346-A043-06A5098DBDCC}" type="datetime1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SzPct val="50000"/>
              <a:buFont typeface="Wingdings" pitchFamily="2" charset="2"/>
              <a:buChar char="q"/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0A7D9CD-ECB7-794A-B726-2BC6A30C21A8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2F76193-A1A7-904C-A525-E26D4DA1A4D6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F3C2156-0610-394C-9E30-37BAF7D3EBAE}" type="datetime1">
              <a:rPr lang="en-US" smtClean="0"/>
              <a:t>2/22/25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8E733DE-614E-0C41-B183-E0472582577A}" type="datetime1">
              <a:rPr lang="en-US" smtClean="0"/>
              <a:t>2/22/25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A47C475-B9FD-1A40-920C-10896F755671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0AD48E77-4F7D-6B4B-93A5-154837DECD40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B547C9E-965E-F445-A90D-B3C1E2705EF1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1B40811-0A60-EC49-84DA-A189D564BC1C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149A39F-11A7-7A4B-B0CD-8D66480F6396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C960-835A-4045-A5A2-641407FEECAA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12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842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851"/>
            <a:ext cx="105156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141246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BA8C8C8-1391-5B41-AB57-62E47668CADC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29800" y="6413502"/>
            <a:ext cx="15240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05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5CDB-AFE2-B242-A334-9577DA0A33B4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9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21582" y="6479021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46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223966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3227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8522" y="6474114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32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879" y="2461846"/>
            <a:ext cx="6021024" cy="1934307"/>
          </a:xfrm>
        </p:spPr>
        <p:txBody>
          <a:bodyPr/>
          <a:lstStyle/>
          <a:p>
            <a:r>
              <a:rPr lang="en-US" sz="4000"/>
              <a:t>Trustworthy </a:t>
            </a:r>
            <a:r>
              <a:rPr lang="en-US" sz="4000" dirty="0"/>
              <a:t>AI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6868931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Trustworthy </a:t>
            </a:r>
            <a:r>
              <a:rPr lang="en-US" dirty="0"/>
              <a:t>AI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789796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Week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5EE11-A35D-8ED0-FFB4-B9481281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E98886-68A6-0667-8805-1220C7F9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 brief in Deep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5AF4-1707-F0E0-4AF3-DBB4F4BEFE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Deep Learning is a subset of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machine learning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that uses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artificial neural networks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with multiple layers (deep networks) to automatically learn representations from data.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-webkit-standard"/>
              </a:rPr>
              <a:t>Know as models with </a:t>
            </a:r>
            <a:r>
              <a:rPr lang="en-US" b="1" dirty="0">
                <a:solidFill>
                  <a:srgbClr val="000000"/>
                </a:solidFill>
                <a:latin typeface="-webkit-standard"/>
              </a:rPr>
              <a:t>very high accuracy</a:t>
            </a:r>
            <a:endParaRPr lang="en-US" b="1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Black box problem: 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 lack of interpretability and transparency in how deep neural networks make decisions. While deep learning models achieve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high accuracy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their decision-making process is often opaque, making it difficult to understand why a particular output was produced.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Some potential reasons:</a:t>
            </a:r>
          </a:p>
          <a:p>
            <a:pPr lvl="1"/>
            <a:r>
              <a:rPr lang="en-US" b="1" dirty="0"/>
              <a:t>High Complexity:</a:t>
            </a:r>
            <a:r>
              <a:rPr lang="en-US" dirty="0"/>
              <a:t> Deep learning models contain </a:t>
            </a:r>
            <a:r>
              <a:rPr lang="en-US" b="1" dirty="0"/>
              <a:t>millions or even billions</a:t>
            </a:r>
            <a:r>
              <a:rPr lang="en-US" dirty="0"/>
              <a:t> of parameters, making them difficult to analyze.</a:t>
            </a:r>
          </a:p>
          <a:p>
            <a:pPr lvl="1"/>
            <a:r>
              <a:rPr lang="en-US" b="1" dirty="0"/>
              <a:t>Non-linearity:</a:t>
            </a:r>
            <a:r>
              <a:rPr lang="en-US" dirty="0"/>
              <a:t> Activation functions introduce complex relationships between inputs and outputs.</a:t>
            </a:r>
          </a:p>
          <a:p>
            <a:pPr lvl="1"/>
            <a:r>
              <a:rPr lang="en-US" b="1" dirty="0"/>
              <a:t>Distributed Representations:</a:t>
            </a:r>
            <a:r>
              <a:rPr lang="en-US" dirty="0"/>
              <a:t> Features are encoded across multiple layers, making it hard to trace the influence of any single input.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2998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FAE472-4044-9C75-1B2C-589F067F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A95D23-108A-485E-B0F8-5B163236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1F714-783A-DF23-6A66-2D2D6F70DB6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Consequences:</a:t>
            </a:r>
          </a:p>
          <a:p>
            <a:pPr lvl="1"/>
            <a:r>
              <a:rPr lang="en-US" b="1" dirty="0"/>
              <a:t>Bias and Discrimination:</a:t>
            </a:r>
            <a:r>
              <a:rPr lang="en-US" dirty="0"/>
              <a:t> AI models can inherit and amplify biases from training data.</a:t>
            </a:r>
          </a:p>
          <a:p>
            <a:pPr lvl="1"/>
            <a:r>
              <a:rPr lang="en-US" b="1" dirty="0"/>
              <a:t>Lack of Trust:</a:t>
            </a:r>
            <a:r>
              <a:rPr lang="en-US" dirty="0"/>
              <a:t> Users may hesitate to adopt AI if they don’t understand how it works.</a:t>
            </a:r>
          </a:p>
          <a:p>
            <a:pPr lvl="1"/>
            <a:r>
              <a:rPr lang="en-US" b="1" dirty="0"/>
              <a:t>Safety Concerns:</a:t>
            </a:r>
            <a:r>
              <a:rPr lang="en-US" dirty="0"/>
              <a:t> In critical applications (e.g., healthcare, autonomous driving), unexplained failures can have serious consequences.</a:t>
            </a:r>
          </a:p>
          <a:p>
            <a:pPr lvl="1"/>
            <a:r>
              <a:rPr lang="en-US" b="1" dirty="0"/>
              <a:t>Legal and Ethical Issues:</a:t>
            </a:r>
            <a:r>
              <a:rPr lang="en-US" dirty="0"/>
              <a:t> Regulatory frameworks (e.g., GDPR) require AI decisions to be explainable.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2226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C383C7-80C6-070D-BAA0-4EDDA78B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B3ACB9-25B0-29C1-E73D-133DC2B5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Trustworthy AI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EFBFC-A7F1-1D64-5A54-EF826E976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Trustworthy AI refers to the development of artificial intelligence systems that are: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-webkit-standard"/>
              </a:rPr>
              <a:t>R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eliable</a:t>
            </a:r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T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ransparent</a:t>
            </a:r>
            <a:endParaRPr lang="en-US" b="1" dirty="0">
              <a:solidFill>
                <a:srgbClr val="000000"/>
              </a:solidFill>
            </a:endParaRP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Fair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Ethically responsible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-webkit-standard"/>
              </a:rPr>
              <a:t>	</a:t>
            </a:r>
            <a:br>
              <a:rPr lang="en-US" dirty="0">
                <a:solidFill>
                  <a:srgbClr val="000000"/>
                </a:solidFill>
                <a:latin typeface="-webkit-standard"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Very important in critical domains where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S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afe and trustworthy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are essential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Healthcare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Finance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-webkit-standard"/>
              </a:rPr>
              <a:t>Law enforcement</a:t>
            </a:r>
            <a:br>
              <a:rPr lang="en-US" dirty="0">
                <a:solidFill>
                  <a:srgbClr val="000000"/>
                </a:solidFill>
                <a:latin typeface="-webkit-standard"/>
              </a:rPr>
            </a:b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-webkit-standard"/>
              </a:rPr>
              <a:t>Ensure: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systems are not only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powerful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but also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ethical, fair, and transparent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br>
              <a:rPr lang="en-US" dirty="0">
                <a:solidFill>
                  <a:srgbClr val="000000"/>
                </a:solidFill>
                <a:latin typeface="-webkit-standard"/>
              </a:rPr>
            </a:br>
            <a:br>
              <a:rPr lang="en-US" dirty="0">
                <a:solidFill>
                  <a:srgbClr val="000000"/>
                </a:solidFill>
                <a:latin typeface="-webkit-standard"/>
              </a:rPr>
            </a:br>
            <a:endParaRPr lang="en-V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D75126C-881D-E03C-993C-52CB9A3E0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5738949"/>
              </p:ext>
            </p:extLst>
          </p:nvPr>
        </p:nvGraphicFramePr>
        <p:xfrm>
          <a:off x="6359721" y="1467115"/>
          <a:ext cx="6086278" cy="3923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173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C0D78-ACE4-1B4B-60E8-36AE93C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09A2D-A190-3363-CE81-C24C1752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Key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ECBFC-7216-3E19-24C9-6AB34BF61D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Transparency &amp; </a:t>
            </a:r>
            <a:r>
              <a:rPr lang="en-US" b="1" dirty="0" err="1"/>
              <a:t>Explainability</a:t>
            </a:r>
            <a:endParaRPr lang="en-US" dirty="0"/>
          </a:p>
          <a:p>
            <a:pPr lvl="1"/>
            <a:r>
              <a:rPr lang="en-US" dirty="0"/>
              <a:t>Methods for making AI decisions interpretable (Explainable AI - XAI).</a:t>
            </a:r>
          </a:p>
          <a:p>
            <a:pPr lvl="1"/>
            <a:r>
              <a:rPr lang="en-US" dirty="0"/>
              <a:t>Techniques such as SHAP, LIME, and Grad-CAM.</a:t>
            </a:r>
          </a:p>
          <a:p>
            <a:r>
              <a:rPr lang="en-US" b="1" dirty="0"/>
              <a:t>Fairness &amp; Bias Mitigation</a:t>
            </a:r>
            <a:endParaRPr lang="en-US" dirty="0"/>
          </a:p>
          <a:p>
            <a:pPr lvl="1"/>
            <a:r>
              <a:rPr lang="en-US" dirty="0"/>
              <a:t>Identifying and mitigating biases in datasets and models.</a:t>
            </a:r>
          </a:p>
          <a:p>
            <a:pPr lvl="1"/>
            <a:r>
              <a:rPr lang="en-US" dirty="0"/>
              <a:t>Fairness metrics like Demographic Parity, Equalized Odds.</a:t>
            </a:r>
          </a:p>
          <a:p>
            <a:r>
              <a:rPr lang="en-US" b="1" dirty="0"/>
              <a:t>Security &amp; Robustness</a:t>
            </a:r>
            <a:endParaRPr lang="en-US" dirty="0"/>
          </a:p>
          <a:p>
            <a:pPr lvl="1"/>
            <a:r>
              <a:rPr lang="en-US" dirty="0"/>
              <a:t>Adversarial attacks and defense strategies.</a:t>
            </a:r>
          </a:p>
          <a:p>
            <a:pPr lvl="1"/>
            <a:r>
              <a:rPr lang="en-US" dirty="0"/>
              <a:t>Privacy-preserving AI (Differential Privacy, Federated Learning).</a:t>
            </a:r>
          </a:p>
          <a:p>
            <a:r>
              <a:rPr lang="en-US" b="1" dirty="0"/>
              <a:t>Ethics &amp; Accountability</a:t>
            </a:r>
            <a:endParaRPr lang="en-US" dirty="0"/>
          </a:p>
          <a:p>
            <a:pPr lvl="1"/>
            <a:r>
              <a:rPr lang="en-US" dirty="0"/>
              <a:t>AI governance, responsible AI policies (e.g., GDPR, EU AI Act).</a:t>
            </a:r>
          </a:p>
          <a:p>
            <a:pPr lvl="1"/>
            <a:r>
              <a:rPr lang="en-US" dirty="0"/>
              <a:t>Social impact and ethical considerations in AI deployment.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4372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11AB32-9289-6E0A-22D9-83395712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DBD604-50BF-22FE-0DE3-0FB60A00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Transparency &amp; </a:t>
            </a:r>
            <a:r>
              <a:rPr lang="en-US" b="1" dirty="0" err="1"/>
              <a:t>Explainability</a:t>
            </a:r>
            <a:br>
              <a:rPr lang="en-US" dirty="0"/>
            </a:b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A76B7-A24F-3124-E89B-F3CE36FA04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Explainable AI (XAI):</a:t>
            </a:r>
            <a:r>
              <a:rPr lang="en-US" dirty="0"/>
              <a:t> Techniques that help interpret how AI models make decisions. Examples include SHAP, LIME, and Grad-CAM.</a:t>
            </a:r>
          </a:p>
          <a:p>
            <a:r>
              <a:rPr lang="en-US" b="1" dirty="0"/>
              <a:t>Interpretable Model:</a:t>
            </a:r>
            <a:r>
              <a:rPr lang="en-US" dirty="0"/>
              <a:t> A model whose internal workings are understandable by humans (e.g., decision trees, linear regression).</a:t>
            </a:r>
          </a:p>
          <a:p>
            <a:r>
              <a:rPr lang="en-US" b="1" dirty="0"/>
              <a:t>Post-hoc Explanation:</a:t>
            </a:r>
            <a:r>
              <a:rPr lang="en-US" dirty="0"/>
              <a:t> Methods used to explain complex models after training, such as feature importance analysis.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2437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C8C8BE-99CE-4FAE-8ABB-AD46C3FE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753EDD-B46C-2E1C-DEA2-674E48DB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Fairness &amp; Bias Mitigation</a:t>
            </a:r>
            <a:br>
              <a:rPr lang="en-US" dirty="0"/>
            </a:b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21EFF-AAF0-B0F1-FCEA-BEE146D3AA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Algorithmic Bias:</a:t>
            </a:r>
            <a:r>
              <a:rPr lang="en-US" dirty="0"/>
              <a:t> Systematic errors in AI models that result in unfair treatment of certain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Fairness Metrics:</a:t>
            </a:r>
          </a:p>
          <a:p>
            <a:pPr lvl="1"/>
            <a:r>
              <a:rPr lang="en-US" b="1" dirty="0"/>
              <a:t>Demographic Parity:</a:t>
            </a:r>
            <a:r>
              <a:rPr lang="en-US" dirty="0"/>
              <a:t> Ensures similar outcomes across different demographic groups.</a:t>
            </a:r>
          </a:p>
          <a:p>
            <a:pPr lvl="1"/>
            <a:r>
              <a:rPr lang="en-US" b="1" dirty="0"/>
              <a:t>Equalized Odds:</a:t>
            </a:r>
            <a:r>
              <a:rPr lang="en-US" dirty="0"/>
              <a:t> Requires equal error rates across groups.</a:t>
            </a:r>
          </a:p>
          <a:p>
            <a:pPr lvl="1"/>
            <a:r>
              <a:rPr lang="en-US" b="1" dirty="0"/>
              <a:t>Counterfactual Fairness:</a:t>
            </a:r>
            <a:r>
              <a:rPr lang="en-US" dirty="0"/>
              <a:t> A model is fair if its predictions remain unchanged when sensitive attributes (e.g., race, gender) are altered.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28480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54B3C-3ECC-DF3E-15A4-CBF2D79A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68A349-23EA-D1E6-E52D-F5DE8A73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&amp; Robustness</a:t>
            </a:r>
            <a:br>
              <a:rPr lang="en-US" dirty="0"/>
            </a:b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0A79-CF2B-88B7-DBFD-DB4CB29BC6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Adversarial Attack:</a:t>
            </a:r>
            <a:r>
              <a:rPr lang="en-US" dirty="0"/>
              <a:t> A technique where small, imperceptible changes to input data cause AI models to make incorrect predictions.</a:t>
            </a:r>
          </a:p>
          <a:p>
            <a:r>
              <a:rPr lang="en-US" b="1" dirty="0"/>
              <a:t>Defensive AI:</a:t>
            </a:r>
            <a:r>
              <a:rPr lang="en-US" dirty="0"/>
              <a:t> Strategies to protect AI from adversarial attacks, including adversarial training and input sanitization.</a:t>
            </a:r>
          </a:p>
          <a:p>
            <a:r>
              <a:rPr lang="en-US" b="1" dirty="0"/>
              <a:t>Privacy-Preserving AI:</a:t>
            </a:r>
            <a:r>
              <a:rPr lang="en-US" dirty="0"/>
              <a:t> Methods like </a:t>
            </a:r>
            <a:r>
              <a:rPr lang="en-US" b="1" dirty="0"/>
              <a:t>differential privacy</a:t>
            </a:r>
            <a:r>
              <a:rPr lang="en-US" dirty="0"/>
              <a:t> and </a:t>
            </a:r>
            <a:r>
              <a:rPr lang="en-US" b="1" dirty="0"/>
              <a:t>federated learning</a:t>
            </a:r>
            <a:r>
              <a:rPr lang="en-US" dirty="0"/>
              <a:t> that protect user data while training models.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9453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3BD463-75FA-55AC-68DE-19802415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182B1-D143-E556-B56B-EDDE3696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Ethics &amp; Accoutability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CA7C3-838D-E30A-3A5E-70CC8D66CC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AI Governance:</a:t>
            </a:r>
            <a:r>
              <a:rPr lang="en-US" dirty="0"/>
              <a:t> Policies and regulations that guide ethical AI development (e.g., GDPR, EU AI Act).</a:t>
            </a:r>
          </a:p>
          <a:p>
            <a:r>
              <a:rPr lang="en-US" b="1" dirty="0"/>
              <a:t>Human-in-the-Loop (HITL):</a:t>
            </a:r>
            <a:r>
              <a:rPr lang="en-US" dirty="0"/>
              <a:t> A design approach where humans oversee and intervene in AI decision-making processes.</a:t>
            </a:r>
          </a:p>
          <a:p>
            <a:r>
              <a:rPr lang="en-US" b="1" dirty="0"/>
              <a:t>Responsible AI:</a:t>
            </a:r>
            <a:r>
              <a:rPr lang="en-US" dirty="0"/>
              <a:t> Ensuring AI systems align with ethical principles such as fairness, transparency, and accountability.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76850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Template_2023" id="{5AC012EB-040C-BB4C-80D5-55FB3FF6CC85}" vid="{D36FEF17-F157-2E4E-8E6C-6AE249DD8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72C464CAAC534A8DEA9A0933996829" ma:contentTypeVersion="0" ma:contentTypeDescription="Create a new document." ma:contentTypeScope="" ma:versionID="fe150f1dd154a673b8a4554f8da71fc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BE9A2D-7492-4A3B-846A-BB63B0B87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8F0A73-CB3D-41E2-B20A-EA725C60EF39}"/>
</file>

<file path=customXml/itemProps3.xml><?xml version="1.0" encoding="utf-8"?>
<ds:datastoreItem xmlns:ds="http://schemas.openxmlformats.org/officeDocument/2006/customXml" ds:itemID="{093733DD-EE03-449C-88A5-8AB9EEF5C65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663</Words>
  <Application>Microsoft Macintosh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-webkit-standard</vt:lpstr>
      <vt:lpstr>Arial</vt:lpstr>
      <vt:lpstr>Calibri</vt:lpstr>
      <vt:lpstr>Calibri Light</vt:lpstr>
      <vt:lpstr>Lato</vt:lpstr>
      <vt:lpstr>Wingdings</vt:lpstr>
      <vt:lpstr>Office Theme</vt:lpstr>
      <vt:lpstr>PowerPoint Presentation</vt:lpstr>
      <vt:lpstr>Trustworthy AI</vt:lpstr>
      <vt:lpstr>PowerPoint Presentation</vt:lpstr>
      <vt:lpstr>A brief in Deep Learning</vt:lpstr>
      <vt:lpstr>PowerPoint Presentation</vt:lpstr>
      <vt:lpstr>Trustworthy AI</vt:lpstr>
      <vt:lpstr>Key topics</vt:lpstr>
      <vt:lpstr>Transparency &amp; Explainability </vt:lpstr>
      <vt:lpstr>Fairness &amp; Bias Mitigation </vt:lpstr>
      <vt:lpstr>Security &amp; Robustness </vt:lpstr>
      <vt:lpstr>Ethics &amp; Accoutability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Duc Anh</dc:creator>
  <cp:lastModifiedBy>Anh Nguyen</cp:lastModifiedBy>
  <cp:revision>22</cp:revision>
  <dcterms:created xsi:type="dcterms:W3CDTF">2024-08-25T10:17:10Z</dcterms:created>
  <dcterms:modified xsi:type="dcterms:W3CDTF">2025-02-22T14:39:50Z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0x0101005972C464CAAC534A8DEA9A0933996829</vt:lpwstr>
  </property>
</Properties>
</file>