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9144000" cy="6858000" type="screen4x3"/>
  <p:notesSz cx="6858000" cy="9144000"/>
  <p:embeddedFontLst>
    <p:embeddedFont>
      <p:font typeface="Lato" panose="020F0502020204030203" pitchFamily="34" charset="0"/>
      <p:regular r:id="rId56"/>
      <p:bold r:id="rId57"/>
      <p:italic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  <p:embeddedFont>
      <p:font typeface="Roboto Mono" panose="020F0502020204030204" pitchFamily="49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jG9tWi0NpsbRaIZeDETFefor7Z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97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77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viewProps" Target="viewProps.xml"/><Relationship Id="rId78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126ea4335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126ea4335_0_2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5126ea4335_0_2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6492f14bc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6492f14bc_1_3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6492f14bc_1_3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126ea433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126ea4335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5126ea4335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126ea43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126ea4335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5126ea4335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126ea433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126ea4335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5126ea4335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1d06a7f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1d06a7f7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461d06a7f7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61d06a7f7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61d06a7f7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461d06a7f7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6492f14bc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6492f14bc_1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46492f14bc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61d06a7f7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61d06a7f7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461d06a7f7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6492f14bc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6492f14bc_1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46492f14bc_1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6492f14bc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6492f14bc_1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46492f14bc_1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6492f14bc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6492f14bc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46492f14bc_1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6492f14bc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6492f14bc_1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46492f14bc_1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6492f14bc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6492f14bc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46492f14bc_1_2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6492f14bc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46492f14bc_1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46492f14bc_1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6492f14bc_1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6492f14bc_1_2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46492f14bc_1_2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6492f14bc_1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6492f14bc_1_3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46492f14bc_1_3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6492f14bc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6492f14bc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46492f14bc_1_2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6492f14bc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46492f14bc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46492f14bc_1_3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6492f14bc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6492f14bc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46492f14bc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6492f14bc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6492f14bc_1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46492f14bc_1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46492f14bc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46492f14bc_1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46492f14bc_1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6492f14bc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6492f14bc_1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46492f14bc_1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126ea433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5126ea4335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5126ea4335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00c5cc5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00c5cc58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400c5cc58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00c5cc58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400c5cc589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400c5cc589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126ea4335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126ea4335_0_2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5126ea4335_0_2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46492f14bc_1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46492f14bc_1_3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46492f14bc_1_3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126ea433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5126ea4335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5126ea4335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126ea43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126ea4335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5126ea4335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5126ea43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5126ea4335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5126ea4335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126ea43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126ea4335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5126ea4335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126ea433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126ea4335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5126ea4335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126ea433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126ea4335_0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5126ea4335_0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26ea433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126ea4335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5126ea4335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126ea433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5126ea4335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g35126ea4335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5126ea433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5126ea4335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5126ea4335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126ea4335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126ea4335_0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5126ea4335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126ea433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126ea4335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5126ea4335_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126ea4335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5126ea4335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5126ea4335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126ea433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126ea4335_0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5126ea4335_0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126ea4335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126ea4335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5126ea4335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126ea4335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126ea4335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5126ea4335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126ea4335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126ea4335_0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35126ea4335_0_2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126ea4335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5126ea4335_0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35126ea4335_0_2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126ea4335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126ea4335_0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5126ea4335_0_2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126ea433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126ea4335_0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35126ea4335_0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5126ea433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5126ea4335_0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5126ea4335_0_2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1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dt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ft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rasa.com/docs/reference/architecture/rasa-pro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cs/getting-started/miniconda/install#quickstart-install-instructio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asa.com/rasa-pro-developer-edition-license-key-reques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asa.com/docs/reference/primitives/starting-flows#nlu-trigg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rasa.com/docs/reference/primitives/starting-flows#flow-guard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413012" y="2421636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lang="en-US" sz="5400" b="1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RASA FRAMWORK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413012" y="3567622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en-US" sz="2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From Intents to Intelligence: </a:t>
            </a:r>
            <a:endParaRPr sz="2800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en-US" sz="2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A Hands-on Journey with Rasa CALM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 introduced to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Rasa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and understand its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key advantages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Comprehend the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of Rasa and its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main components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Install and configure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 development environment for building assistants with Rasa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Build and test a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simple chatbot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through hands-on practice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126ea4335_0_294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7" name="Google Shape;107;g35126ea4335_0_294"/>
          <p:cNvSpPr txBox="1">
            <a:spLocks noGrp="1"/>
          </p:cNvSpPr>
          <p:nvPr>
            <p:ph type="body" idx="1"/>
          </p:nvPr>
        </p:nvSpPr>
        <p:spPr>
          <a:xfrm>
            <a:off x="235075" y="796025"/>
            <a:ext cx="8592900" cy="466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Open-source framework for </a:t>
            </a:r>
            <a:r>
              <a:rPr lang="en-US" sz="2000" b="1"/>
              <a:t>conversational AI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Focus on: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 b="1"/>
              <a:t>Customization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 b="1"/>
              <a:t>Privacy &amp; control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 b="1"/>
              <a:t>Production-grade deployment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Widely used in: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Banking &amp; Insurance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Healthcare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E-commerce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Rasa CALM: New flow-based architecture optimized for LLM integration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08" name="Google Shape;108;g35126ea4335_0_294"/>
          <p:cNvSpPr txBox="1">
            <a:spLocks noGrp="1"/>
          </p:cNvSpPr>
          <p:nvPr>
            <p:ph type="title"/>
          </p:nvPr>
        </p:nvSpPr>
        <p:spPr>
          <a:xfrm>
            <a:off x="235075" y="0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Why Use Rasa?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Overview of Rasa's Architecture</a:t>
            </a:r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16" name="Google Shape;11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75" y="1022575"/>
            <a:ext cx="6792100" cy="51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>
            <a:hlinkClick r:id="rId4"/>
          </p:cNvPr>
          <p:cNvSpPr txBox="1"/>
          <p:nvPr/>
        </p:nvSpPr>
        <p:spPr>
          <a:xfrm>
            <a:off x="7136550" y="6457800"/>
            <a:ext cx="113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rasa docs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6492f14bc_1_381"/>
          <p:cNvSpPr txBox="1">
            <a:spLocks noGrp="1"/>
          </p:cNvSpPr>
          <p:nvPr>
            <p:ph type="title"/>
          </p:nvPr>
        </p:nvSpPr>
        <p:spPr>
          <a:xfrm>
            <a:off x="235052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 Introduction: AI Travel Booking Assistant</a:t>
            </a:r>
            <a:endParaRPr/>
          </a:p>
        </p:txBody>
      </p:sp>
      <p:sp>
        <p:nvSpPr>
          <p:cNvPr id="124" name="Google Shape;124;g346492f14bc_1_38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5" name="Google Shape;125;g346492f14bc_1_381"/>
          <p:cNvSpPr txBox="1"/>
          <p:nvPr/>
        </p:nvSpPr>
        <p:spPr>
          <a:xfrm>
            <a:off x="281975" y="1058575"/>
            <a:ext cx="8369400" cy="5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Travel Booking Assistant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a hands-on project built using Rasa CALM, aiming to develop a conversational assistant that supports users in the following tasks: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Searching for available flight information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Booking flight tickets to specific destinations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Checking details of previously booked flights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Cancelling flights when cancellation is permitted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project showcases how to apply key features of Rasa CALM, including: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Flow-based dialogue management for handling conversation logic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 actions for implementing backend operations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Integration with large language models (LLMs) to enable natural and context-aware interactions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practical session will guide participants through designing, building, and testing a complete travel booking assistant.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26ea4335_0_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132" name="Google Shape;132;g35126ea4335_0_1"/>
          <p:cNvSpPr txBox="1">
            <a:spLocks noGrp="1"/>
          </p:cNvSpPr>
          <p:nvPr>
            <p:ph type="body" idx="1"/>
          </p:nvPr>
        </p:nvSpPr>
        <p:spPr>
          <a:xfrm>
            <a:off x="235075" y="964125"/>
            <a:ext cx="8549400" cy="48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By the end of this session, participants will be able to: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Understand how to design a conversational assistant using flow-based dialogue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Learn how to use Rasa CALM and integrate it with an LLM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Build and execute custom actions to handle flight booking logic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Connect Rasa to external data sources (e.g., CSV files or a mock database)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g35126ea4335_0_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126ea4335_0_2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Overview</a:t>
            </a:r>
            <a:endParaRPr/>
          </a:p>
        </p:txBody>
      </p:sp>
      <p:sp>
        <p:nvSpPr>
          <p:cNvPr id="140" name="Google Shape;140;g35126ea4335_0_20"/>
          <p:cNvSpPr txBox="1">
            <a:spLocks noGrp="1"/>
          </p:cNvSpPr>
          <p:nvPr>
            <p:ph type="body" idx="1"/>
          </p:nvPr>
        </p:nvSpPr>
        <p:spPr>
          <a:xfrm>
            <a:off x="235075" y="997950"/>
            <a:ext cx="7872000" cy="48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assistant will guide users through common travel-related tasks, including: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Searching for available flight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Booking flight tickets to selected destinations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Checking details of existing bookings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Cancelling bookings when cancellation is allowed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5126ea4335_0_2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126ea4335_0_3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148" name="Google Shape;148;g35126ea4335_0_30"/>
          <p:cNvSpPr txBox="1">
            <a:spLocks noGrp="1"/>
          </p:cNvSpPr>
          <p:nvPr>
            <p:ph type="body" idx="1"/>
          </p:nvPr>
        </p:nvSpPr>
        <p:spPr>
          <a:xfrm>
            <a:off x="235076" y="1196150"/>
            <a:ext cx="85464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project is built on a modular architecture that includes the following key components: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Rasa Core &amp; NLU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 Manages dialogue flow and understands user intents and entities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Rasa Actions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 Handles custom logic such as retrieving flight data, booking tickets, or processing cancellations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CSV Files / Mock Database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 Simulates backend storage for available flights and bookings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LLM Integration via Rasa CALM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 Enhances conversation quality with natural language understanding and generation using a large language model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49" name="Google Shape;149;g35126ea4335_0_3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61d06a7f7_0_125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 and Setup</a:t>
            </a:r>
            <a:endParaRPr/>
          </a:p>
        </p:txBody>
      </p:sp>
      <p:sp>
        <p:nvSpPr>
          <p:cNvPr id="156" name="Google Shape;156;g3461d06a7f7_0_125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7" name="Google Shape;157;g3461d06a7f7_0_125"/>
          <p:cNvSpPr txBox="1"/>
          <p:nvPr/>
        </p:nvSpPr>
        <p:spPr>
          <a:xfrm>
            <a:off x="250875" y="981325"/>
            <a:ext cx="8673900" cy="43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Setup evironment 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Download </a:t>
            </a:r>
            <a:r>
              <a:rPr lang="en-US" sz="2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miniconda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new rasa-env using python 3.9:</a:t>
            </a:r>
            <a:b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conda create --name rasa-env python=3.9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Activate the virtual environment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conda activate rasa-env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Deactivate an activate environment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conda deactivate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Install rasa-pro with:</a:t>
            </a:r>
            <a:b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pip install rasa-pro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61d06a7f7_0_10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 and Setup</a:t>
            </a:r>
            <a:endParaRPr/>
          </a:p>
        </p:txBody>
      </p:sp>
      <p:sp>
        <p:nvSpPr>
          <p:cNvPr id="164" name="Google Shape;164;g3461d06a7f7_0_10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5" name="Google Shape;165;g3461d06a7f7_0_106"/>
          <p:cNvSpPr txBox="1"/>
          <p:nvPr/>
        </p:nvSpPr>
        <p:spPr>
          <a:xfrm>
            <a:off x="235075" y="995550"/>
            <a:ext cx="8673900" cy="55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Obtain and Set Up the Rasa Pro License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Request a License Key</a:t>
            </a: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Temporary Use: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the License Key as an Environment Variable: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window powershell</a:t>
            </a:r>
            <a:b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$env:RASA_PRO_LICENSE="your_license_key"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macos/linux:</a:t>
            </a:r>
            <a:b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export RASA_PRO_LICENSE=your_license_key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Persistent Use: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window powershell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[System.Environment]::SetEnvironmentVariable('RASA_PRO_LICENSE', 'your_license_key', 'User')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macos/linux: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echo "export RASA_PRO_LICENSE=your_license_key" &gt;&gt; ~/.bashrc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source ~/.bashrc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6492f14bc_1_1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 and Setup</a:t>
            </a:r>
            <a:endParaRPr/>
          </a:p>
        </p:txBody>
      </p:sp>
      <p:sp>
        <p:nvSpPr>
          <p:cNvPr id="172" name="Google Shape;172;g346492f14bc_1_1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3" name="Google Shape;173;g346492f14bc_1_19"/>
          <p:cNvSpPr txBox="1"/>
          <p:nvPr/>
        </p:nvSpPr>
        <p:spPr>
          <a:xfrm>
            <a:off x="250875" y="981325"/>
            <a:ext cx="8673900" cy="4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 Initializing a New Rasa Project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new directory named: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mkdir rasa_project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Navigate into rasa_project folder: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cd rasa_project</a:t>
            </a:r>
            <a:endParaRPr sz="2000">
              <a:solidFill>
                <a:schemeClr val="lt1"/>
              </a:solidFill>
              <a:highlight>
                <a:schemeClr val="dk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Initialize the Rasa project: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 b="1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rasa init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000">
                <a:solidFill>
                  <a:srgbClr val="1C1E21"/>
                </a:solidFill>
                <a:latin typeface="Lato"/>
                <a:ea typeface="Lato"/>
                <a:cs typeface="Lato"/>
                <a:sym typeface="Lato"/>
              </a:rPr>
              <a:t>create an NLU-based assistant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 b="1">
                <a:solidFill>
                  <a:schemeClr val="lt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rasa init --template calm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create </a:t>
            </a:r>
            <a:r>
              <a:rPr lang="en-US" sz="2000">
                <a:solidFill>
                  <a:srgbClr val="1C1E21"/>
                </a:solidFill>
                <a:latin typeface="Lato"/>
                <a:ea typeface="Lato"/>
                <a:cs typeface="Lato"/>
                <a:sym typeface="Lato"/>
              </a:rPr>
              <a:t>a CALM assistant</a:t>
            </a:r>
            <a:endParaRPr sz="2000">
              <a:solidFill>
                <a:srgbClr val="1C1E2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61d06a7f7_0_6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0" name="Google Shape;180;g3461d06a7f7_0_6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Directory Structure</a:t>
            </a:r>
            <a:endParaRPr/>
          </a:p>
        </p:txBody>
      </p:sp>
      <p:sp>
        <p:nvSpPr>
          <p:cNvPr id="181" name="Google Shape;181;g3461d06a7f7_0_66"/>
          <p:cNvSpPr txBox="1">
            <a:spLocks noGrp="1"/>
          </p:cNvSpPr>
          <p:nvPr>
            <p:ph type="body" idx="1"/>
          </p:nvPr>
        </p:nvSpPr>
        <p:spPr>
          <a:xfrm>
            <a:off x="133550" y="1329900"/>
            <a:ext cx="5675400" cy="465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/>
              <a:t>data/:</a:t>
            </a:r>
            <a:r>
              <a:rPr lang="en-US" sz="2000"/>
              <a:t> Contains training data for NLU and Core.​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models/:</a:t>
            </a:r>
            <a:r>
              <a:rPr lang="en-US" sz="2000"/>
              <a:t> Stores trained models.​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domain.yml:</a:t>
            </a:r>
            <a:r>
              <a:rPr lang="en-US" sz="2000"/>
              <a:t> Defines intents, entities, slots, responses, and actions</a:t>
            </a:r>
            <a:endParaRPr sz="2000" u="sng">
              <a:solidFill>
                <a:schemeClr val="hlink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config.yml:</a:t>
            </a:r>
            <a:r>
              <a:rPr lang="en-US" sz="2000"/>
              <a:t> Configures the processing pipeline and policies.​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endpoints.yml:</a:t>
            </a:r>
            <a:r>
              <a:rPr lang="en-US" sz="2000"/>
              <a:t> Sets up endpoints for action servers and trackers.​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/>
              <a:t>flows.yml:</a:t>
            </a:r>
            <a:r>
              <a:rPr lang="en-US" sz="2000"/>
              <a:t> Define the business logic rules of your assistant.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/>
              <a:t>actions.py:</a:t>
            </a:r>
            <a:r>
              <a:rPr lang="en-US" sz="2000"/>
              <a:t> Write the actual code of the custom actions.</a:t>
            </a:r>
            <a:endParaRPr sz="2000"/>
          </a:p>
        </p:txBody>
      </p:sp>
      <p:sp>
        <p:nvSpPr>
          <p:cNvPr id="182" name="Google Shape;182;g3461d06a7f7_0_66"/>
          <p:cNvSpPr txBox="1"/>
          <p:nvPr/>
        </p:nvSpPr>
        <p:spPr>
          <a:xfrm>
            <a:off x="235075" y="676750"/>
            <a:ext cx="604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 Files and Directories: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g3461d06a7f7_0_66" title="Screenshot 2025-03-31 at 05.50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350" y="1321750"/>
            <a:ext cx="27813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6492f14bc_1_11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Flows</a:t>
            </a:r>
            <a:endParaRPr/>
          </a:p>
        </p:txBody>
      </p:sp>
      <p:sp>
        <p:nvSpPr>
          <p:cNvPr id="190" name="Google Shape;190;g346492f14bc_1_110"/>
          <p:cNvSpPr txBox="1">
            <a:spLocks noGrp="1"/>
          </p:cNvSpPr>
          <p:nvPr>
            <p:ph type="body" idx="1"/>
          </p:nvPr>
        </p:nvSpPr>
        <p:spPr>
          <a:xfrm>
            <a:off x="235076" y="1108826"/>
            <a:ext cx="8416500" cy="488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/>
              <a:t>What Are Flows?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Flows are structured sequences of steps that encapsulate the business logic required to achieve specific user goals, such as blocking a credit card, changing an address, or adding a payee.​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By isolating business logic from the broader conversation, Flows offer:​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Clarity:</a:t>
            </a:r>
            <a:r>
              <a:rPr lang="en-US" sz="2000"/>
              <a:t> Each Flow is dedicated to a single task or outcome.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Reusability:</a:t>
            </a:r>
            <a:r>
              <a:rPr lang="en-US" sz="2000"/>
              <a:t> Flow logic can be invoked from other Flows or initiated independently.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Maintainability:</a:t>
            </a:r>
            <a:r>
              <a:rPr lang="en-US" sz="2000"/>
              <a:t> Modifications to Flow logic can be made without impacting the overall conversation design.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91" name="Google Shape;191;g346492f14bc_1_11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6492f14bc_1_14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Structure of a Flow</a:t>
            </a:r>
            <a:endParaRPr/>
          </a:p>
        </p:txBody>
      </p:sp>
      <p:sp>
        <p:nvSpPr>
          <p:cNvPr id="198" name="Google Shape;198;g346492f14bc_1_141"/>
          <p:cNvSpPr txBox="1">
            <a:spLocks noGrp="1"/>
          </p:cNvSpPr>
          <p:nvPr>
            <p:ph type="body" idx="1"/>
          </p:nvPr>
        </p:nvSpPr>
        <p:spPr>
          <a:xfrm>
            <a:off x="235075" y="1104397"/>
            <a:ext cx="8673900" cy="440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Defining a Flow in </a:t>
            </a:r>
            <a:r>
              <a:rPr lang="en-US" sz="2000" b="1">
                <a:solidFill>
                  <a:srgbClr val="188038"/>
                </a:solidFill>
              </a:rPr>
              <a:t>flows.yml</a:t>
            </a:r>
            <a:r>
              <a:rPr lang="en-US" sz="2000" b="1"/>
              <a:t>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Each Flow is specified using YAML syntax with key attributes:​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Flow ID:</a:t>
            </a:r>
            <a:r>
              <a:rPr lang="en-US" sz="2000"/>
              <a:t> A unique identifier for the Flow.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Name (optional):</a:t>
            </a:r>
            <a:r>
              <a:rPr lang="en-US" sz="2000"/>
              <a:t> A human-readable name for the Flow.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Description:</a:t>
            </a:r>
            <a:r>
              <a:rPr lang="en-US" sz="2000"/>
              <a:t> A brief explanation of the Flow's purpose.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/>
              <a:t>Steps:</a:t>
            </a:r>
            <a:r>
              <a:rPr lang="en-US" sz="2000"/>
              <a:t> A list of actions or information requests within the Flow.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>
                <a:solidFill>
                  <a:srgbClr val="1C1E21"/>
                </a:solidFill>
              </a:rPr>
              <a:t>NLU Trigger property: </a:t>
            </a:r>
            <a:r>
              <a:rPr lang="en-US" sz="2000">
                <a:solidFill>
                  <a:srgbClr val="1C1E21"/>
                </a:solidFill>
              </a:rPr>
              <a:t>used to add </a:t>
            </a:r>
            <a:r>
              <a:rPr lang="en-US" sz="2000">
                <a:uFill>
                  <a:noFill/>
                </a:uFill>
                <a:hlinkClick r:id="rId3"/>
              </a:rPr>
              <a:t>intents that can start the Flow</a:t>
            </a:r>
            <a:r>
              <a:rPr lang="en-US" sz="2000">
                <a:solidFill>
                  <a:srgbClr val="1C1E21"/>
                </a:solidFill>
              </a:rPr>
              <a:t>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 b="1">
                <a:solidFill>
                  <a:srgbClr val="1C1E21"/>
                </a:solidFill>
              </a:rPr>
              <a:t>If property:</a:t>
            </a:r>
            <a:r>
              <a:rPr lang="en-US" sz="2000">
                <a:solidFill>
                  <a:srgbClr val="1C1E21"/>
                </a:solidFill>
              </a:rPr>
              <a:t>  A field is used to add </a:t>
            </a:r>
            <a:r>
              <a:rPr lang="en-US" sz="2000">
                <a:uFill>
                  <a:noFill/>
                </a:uFill>
                <a:hlinkClick r:id="rId4"/>
              </a:rPr>
              <a:t>flow guards</a:t>
            </a:r>
            <a:r>
              <a:rPr lang="en-US" sz="2000">
                <a:solidFill>
                  <a:srgbClr val="1C1E21"/>
                </a:solidFill>
              </a:rPr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99" name="Google Shape;199;g346492f14bc_1_14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6492f14bc_1_37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Structure of a Flow</a:t>
            </a:r>
            <a:endParaRPr/>
          </a:p>
        </p:txBody>
      </p:sp>
      <p:sp>
        <p:nvSpPr>
          <p:cNvPr id="206" name="Google Shape;206;g346492f14bc_1_371"/>
          <p:cNvSpPr txBox="1">
            <a:spLocks noGrp="1"/>
          </p:cNvSpPr>
          <p:nvPr>
            <p:ph type="body" idx="1"/>
          </p:nvPr>
        </p:nvSpPr>
        <p:spPr>
          <a:xfrm>
            <a:off x="235076" y="1104409"/>
            <a:ext cx="8673900" cy="34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/>
              <a:t>Example of a Simple Flow: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A Flow to greet the user: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07" name="Google Shape;207;g346492f14bc_1_37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08" name="Google Shape;208;g346492f14bc_1_371" title="Screenshot 2025-03-31 at 06.54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00" y="2442259"/>
            <a:ext cx="5426142" cy="174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6492f14bc_1_15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Key Components of a Flow</a:t>
            </a:r>
            <a:endParaRPr/>
          </a:p>
        </p:txBody>
      </p:sp>
      <p:sp>
        <p:nvSpPr>
          <p:cNvPr id="215" name="Google Shape;215;g346492f14bc_1_153"/>
          <p:cNvSpPr txBox="1">
            <a:spLocks noGrp="1"/>
          </p:cNvSpPr>
          <p:nvPr>
            <p:ph type="body" idx="1"/>
          </p:nvPr>
        </p:nvSpPr>
        <p:spPr>
          <a:xfrm>
            <a:off x="235075" y="906425"/>
            <a:ext cx="8382600" cy="73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Collect Step (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collect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Requests specific information from the user and stores it in slots.​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46492f14bc_1_15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17" name="Google Shape;217;g346492f14bc_1_153"/>
          <p:cNvSpPr txBox="1"/>
          <p:nvPr/>
        </p:nvSpPr>
        <p:spPr>
          <a:xfrm>
            <a:off x="235075" y="3315200"/>
            <a:ext cx="8517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Action Step (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n-US" sz="2000" b="1">
                <a:solidFill>
                  <a:schemeClr val="dk1"/>
                </a:solidFill>
              </a:rPr>
              <a:t>): </a:t>
            </a:r>
            <a:r>
              <a:rPr lang="en-US" sz="2000">
                <a:solidFill>
                  <a:schemeClr val="dk1"/>
                </a:solidFill>
              </a:rPr>
              <a:t>Executes a specific action, such as calling a custom action or sending a response.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218" name="Google Shape;218;g346492f14bc_1_153" title="Screenshot 2025-03-31 at 07.05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450" y="4198625"/>
            <a:ext cx="4536053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46492f14bc_1_153"/>
          <p:cNvSpPr txBox="1"/>
          <p:nvPr/>
        </p:nvSpPr>
        <p:spPr>
          <a:xfrm>
            <a:off x="235075" y="2673275"/>
            <a:ext cx="851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*Note:</a:t>
            </a:r>
            <a:r>
              <a:rPr lang="en-US" sz="2000">
                <a:solidFill>
                  <a:schemeClr val="dk1"/>
                </a:solidFill>
              </a:rPr>
              <a:t> The assistant will not proceed to the next step until the slot is filled.</a:t>
            </a:r>
            <a:endParaRPr sz="2000"/>
          </a:p>
        </p:txBody>
      </p:sp>
      <p:pic>
        <p:nvPicPr>
          <p:cNvPr id="220" name="Google Shape;220;g346492f14bc_1_153" title="Screenshot 2025-03-31 at 07.34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4450" y="1709225"/>
            <a:ext cx="6578060" cy="8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6492f14bc_1_20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Key Components of a Flow</a:t>
            </a:r>
            <a:endParaRPr/>
          </a:p>
        </p:txBody>
      </p:sp>
      <p:sp>
        <p:nvSpPr>
          <p:cNvPr id="227" name="Google Shape;227;g346492f14bc_1_20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8" name="Google Shape;228;g346492f14bc_1_203"/>
          <p:cNvSpPr txBox="1"/>
          <p:nvPr/>
        </p:nvSpPr>
        <p:spPr>
          <a:xfrm>
            <a:off x="235075" y="1082825"/>
            <a:ext cx="8200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Set Slots Step (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set_slots</a:t>
            </a:r>
            <a:r>
              <a:rPr lang="en-US" sz="2000" b="1">
                <a:solidFill>
                  <a:schemeClr val="dk1"/>
                </a:solidFill>
              </a:rPr>
              <a:t>):</a:t>
            </a:r>
            <a:r>
              <a:rPr lang="en-US" sz="2000">
                <a:solidFill>
                  <a:schemeClr val="dk1"/>
                </a:solidFill>
              </a:rPr>
              <a:t> Updates the values of slots based on business logic.</a:t>
            </a:r>
            <a:endParaRPr sz="2000"/>
          </a:p>
        </p:txBody>
      </p:sp>
      <p:pic>
        <p:nvPicPr>
          <p:cNvPr id="229" name="Google Shape;229;g346492f14bc_1_203" title="Screenshot 2025-03-31 at 07.08.30.png"/>
          <p:cNvPicPr preferRelativeResize="0"/>
          <p:nvPr/>
        </p:nvPicPr>
        <p:blipFill rotWithShape="1">
          <a:blip r:embed="rId3">
            <a:alphaModFix/>
          </a:blip>
          <a:srcRect l="-3203" t="-24115" r="-3213"/>
          <a:stretch/>
        </p:blipFill>
        <p:spPr>
          <a:xfrm>
            <a:off x="2262500" y="1702750"/>
            <a:ext cx="4145341" cy="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46492f14bc_1_203"/>
          <p:cNvSpPr txBox="1"/>
          <p:nvPr/>
        </p:nvSpPr>
        <p:spPr>
          <a:xfrm>
            <a:off x="235075" y="3427275"/>
            <a:ext cx="82809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Call or Link Step (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call</a:t>
            </a:r>
            <a:r>
              <a:rPr lang="en-US" sz="2000" b="1">
                <a:solidFill>
                  <a:schemeClr val="dk1"/>
                </a:solidFill>
              </a:rPr>
              <a:t> or 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en-US" sz="2000" b="1">
                <a:solidFill>
                  <a:schemeClr val="dk1"/>
                </a:solidFill>
              </a:rPr>
              <a:t>): </a:t>
            </a:r>
            <a:r>
              <a:rPr lang="en-US" sz="2000">
                <a:solidFill>
                  <a:schemeClr val="dk1"/>
                </a:solidFill>
              </a:rPr>
              <a:t>Invokes another Flow as part of the current process.​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1" name="Google Shape;231;g346492f14bc_1_203"/>
          <p:cNvSpPr txBox="1"/>
          <p:nvPr/>
        </p:nvSpPr>
        <p:spPr>
          <a:xfrm>
            <a:off x="293300" y="2824800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46492f14bc_1_203"/>
          <p:cNvSpPr txBox="1"/>
          <p:nvPr/>
        </p:nvSpPr>
        <p:spPr>
          <a:xfrm>
            <a:off x="235075" y="2778596"/>
            <a:ext cx="820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*Note: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You can set a slot to </a:t>
            </a:r>
            <a:r>
              <a:rPr lang="en-US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null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clear its value. Can set multiple slots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g346492f14bc_1_203" title="Screenshot 2025-03-31 at 07.35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200" y="4403725"/>
            <a:ext cx="63246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46492f14bc_1_203"/>
          <p:cNvSpPr txBox="1"/>
          <p:nvPr/>
        </p:nvSpPr>
        <p:spPr>
          <a:xfrm>
            <a:off x="293300" y="557212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6492f14bc_1_28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Managing Slots After Flow Completion</a:t>
            </a:r>
            <a:endParaRPr/>
          </a:p>
        </p:txBody>
      </p:sp>
      <p:sp>
        <p:nvSpPr>
          <p:cNvPr id="241" name="Google Shape;241;g346492f14bc_1_286"/>
          <p:cNvSpPr txBox="1">
            <a:spLocks noGrp="1"/>
          </p:cNvSpPr>
          <p:nvPr>
            <p:ph type="body" idx="1"/>
          </p:nvPr>
        </p:nvSpPr>
        <p:spPr>
          <a:xfrm>
            <a:off x="336425" y="844975"/>
            <a:ext cx="8673900" cy="25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Default Behavior:</a:t>
            </a:r>
            <a:endParaRPr sz="2000" b="1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Slots set through </a:t>
            </a:r>
            <a:r>
              <a:rPr lang="en-US" sz="2000">
                <a:solidFill>
                  <a:srgbClr val="188038"/>
                </a:solidFill>
              </a:rPr>
              <a:t>collect</a:t>
            </a:r>
            <a:r>
              <a:rPr lang="en-US" sz="2000"/>
              <a:t> and </a:t>
            </a:r>
            <a:r>
              <a:rPr lang="en-US" sz="2000">
                <a:solidFill>
                  <a:srgbClr val="188038"/>
                </a:solidFill>
              </a:rPr>
              <a:t>set_slots</a:t>
            </a:r>
            <a:r>
              <a:rPr lang="en-US" sz="2000"/>
              <a:t> are reset when a Flow completes.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Persisting Slot Values:</a:t>
            </a:r>
            <a:endParaRPr sz="2000" b="1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the </a:t>
            </a:r>
            <a:r>
              <a:rPr lang="en-US" sz="2000">
                <a:solidFill>
                  <a:srgbClr val="188038"/>
                </a:solidFill>
              </a:rPr>
              <a:t>persisted_slots</a:t>
            </a:r>
            <a:r>
              <a:rPr lang="en-US" sz="2000"/>
              <a:t> attribute to specify which slots should retain their values after the Flow ends.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42" name="Google Shape;242;g346492f14bc_1_28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43" name="Google Shape;243;g346492f14bc_1_286" title="Screenshot 2025-03-31 at 07.57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650" y="3039900"/>
            <a:ext cx="4801125" cy="23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46492f14bc_1_286"/>
          <p:cNvSpPr txBox="1"/>
          <p:nvPr/>
        </p:nvSpPr>
        <p:spPr>
          <a:xfrm>
            <a:off x="280025" y="5357638"/>
            <a:ext cx="8786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*Note: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Only slots set through </a:t>
            </a:r>
            <a:r>
              <a:rPr lang="en-U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collect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set_slots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should be added to </a:t>
            </a:r>
            <a:r>
              <a:rPr lang="en-U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persisted_slots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Slots set by custom actions are automatically retained unless explicitly reset.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6492f14bc_1_27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46492f14bc_1_270"/>
          <p:cNvSpPr txBox="1">
            <a:spLocks noGrp="1"/>
          </p:cNvSpPr>
          <p:nvPr>
            <p:ph type="body" idx="1"/>
          </p:nvPr>
        </p:nvSpPr>
        <p:spPr>
          <a:xfrm>
            <a:off x="235075" y="1025450"/>
            <a:ext cx="8517900" cy="494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What is the Domain?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The domain defines the universe in which your assistant operates. It specifies the intents, entities, slots, responses, forms, and actions your bot should know. ​</a:t>
            </a:r>
            <a:endParaRPr sz="20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Key Components of the Domain: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Intents:</a:t>
            </a:r>
            <a:r>
              <a:rPr lang="en-US" sz="2000"/>
              <a:t> User goals or purposes expressed in their inputs.​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Entities:</a:t>
            </a:r>
            <a:r>
              <a:rPr lang="en-US" sz="2000"/>
              <a:t> Specific data extracted from user inputs.​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Slots:</a:t>
            </a:r>
            <a:r>
              <a:rPr lang="en-US" sz="2000"/>
              <a:t> Variables that store information to be remembered throughout the conversation.​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Responses:</a:t>
            </a:r>
            <a:r>
              <a:rPr lang="en-US" sz="2000"/>
              <a:t> Predefined messages the assistant can send to users.​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Actions:</a:t>
            </a:r>
            <a:r>
              <a:rPr lang="en-US" sz="2000"/>
              <a:t> Operations the assistant can perform, including custom actions.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52" name="Google Shape;252;g346492f14bc_1_27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6492f14bc_1_31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</a:t>
            </a:r>
            <a:endParaRPr/>
          </a:p>
        </p:txBody>
      </p:sp>
      <p:sp>
        <p:nvSpPr>
          <p:cNvPr id="259" name="Google Shape;259;g346492f14bc_1_319"/>
          <p:cNvSpPr txBox="1">
            <a:spLocks noGrp="1"/>
          </p:cNvSpPr>
          <p:nvPr>
            <p:ph type="body" idx="1"/>
          </p:nvPr>
        </p:nvSpPr>
        <p:spPr>
          <a:xfrm>
            <a:off x="235076" y="1014150"/>
            <a:ext cx="8574300" cy="112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Defining the Domain: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domain is typically defined in a YAML file named </a:t>
            </a:r>
            <a:r>
              <a:rPr lang="en-US" sz="2000">
                <a:solidFill>
                  <a:srgbClr val="188038"/>
                </a:solidFill>
              </a:rPr>
              <a:t>domain.yml</a:t>
            </a:r>
            <a:endParaRPr sz="2000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60" name="Google Shape;260;g346492f14bc_1_31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61" name="Google Shape;261;g346492f14bc_1_319" title="Screenshot 2025-04-25 at 11.57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825" y="2063150"/>
            <a:ext cx="5132801" cy="36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6492f14bc_1_278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 Actions</a:t>
            </a:r>
            <a:endParaRPr/>
          </a:p>
        </p:txBody>
      </p:sp>
      <p:sp>
        <p:nvSpPr>
          <p:cNvPr id="268" name="Google Shape;268;g346492f14bc_1_278"/>
          <p:cNvSpPr txBox="1">
            <a:spLocks noGrp="1"/>
          </p:cNvSpPr>
          <p:nvPr>
            <p:ph type="body" idx="1"/>
          </p:nvPr>
        </p:nvSpPr>
        <p:spPr>
          <a:xfrm>
            <a:off x="235076" y="1070575"/>
            <a:ext cx="8472900" cy="426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What are Custom Actions?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Custom actions allow your assistant to execute arbitrary code, enabling operations like calling external APIs, querying databases, or performing calculations. </a:t>
            </a:r>
            <a:endParaRPr sz="20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/>
              <a:t>When to Use Custom Actions: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Fetching real-time data from external sources.​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Performing complex business logic not handled by standard responses.​</a:t>
            </a:r>
            <a:endParaRPr sz="2000" u="sng">
              <a:solidFill>
                <a:schemeClr val="hlink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Interacting with databases or other backend systems.​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69" name="Google Shape;269;g346492f14bc_1_278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6492f14bc_1_32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 Actions</a:t>
            </a:r>
            <a:endParaRPr/>
          </a:p>
        </p:txBody>
      </p:sp>
      <p:sp>
        <p:nvSpPr>
          <p:cNvPr id="276" name="Google Shape;276;g346492f14bc_1_329"/>
          <p:cNvSpPr txBox="1">
            <a:spLocks noGrp="1"/>
          </p:cNvSpPr>
          <p:nvPr>
            <p:ph type="body" idx="1"/>
          </p:nvPr>
        </p:nvSpPr>
        <p:spPr>
          <a:xfrm>
            <a:off x="235075" y="822950"/>
            <a:ext cx="8484000" cy="341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Implementing Custom Actions: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AutoNum type="arabicPeriod"/>
            </a:pPr>
            <a:r>
              <a:rPr lang="en-US" sz="2000" b="1"/>
              <a:t>Create the Action Class: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Define a Python class that inherits from </a:t>
            </a:r>
            <a:r>
              <a:rPr lang="en-US" sz="2000">
                <a:solidFill>
                  <a:srgbClr val="188038"/>
                </a:solidFill>
              </a:rPr>
              <a:t>Action</a:t>
            </a:r>
            <a:r>
              <a:rPr lang="en-US" sz="2000"/>
              <a:t>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Implement the </a:t>
            </a:r>
            <a:r>
              <a:rPr lang="en-US" sz="2000" b="1"/>
              <a:t>name</a:t>
            </a:r>
            <a:r>
              <a:rPr lang="en-US" sz="2000"/>
              <a:t> method to specify the action's identifier.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Implement the </a:t>
            </a:r>
            <a:r>
              <a:rPr lang="en-US" sz="2000" b="1"/>
              <a:t>run</a:t>
            </a:r>
            <a:r>
              <a:rPr lang="en-US" sz="2000"/>
              <a:t> method to execute the desired functionality.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AutoNum type="arabicPeriod"/>
            </a:pPr>
            <a:r>
              <a:rPr lang="en-US" sz="2000" b="1"/>
              <a:t>Register the Action: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List the action in the </a:t>
            </a:r>
            <a:r>
              <a:rPr lang="en-US" sz="2000">
                <a:solidFill>
                  <a:srgbClr val="188038"/>
                </a:solidFill>
              </a:rPr>
              <a:t>actions</a:t>
            </a:r>
            <a:r>
              <a:rPr lang="en-US" sz="2000"/>
              <a:t> section of your </a:t>
            </a:r>
            <a:r>
              <a:rPr lang="en-US" sz="2000">
                <a:solidFill>
                  <a:srgbClr val="188038"/>
                </a:solidFill>
              </a:rPr>
              <a:t>domain.yml</a:t>
            </a:r>
            <a:r>
              <a:rPr lang="en-US" sz="2000"/>
              <a:t>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AutoNum type="arabicPeriod"/>
            </a:pPr>
            <a:r>
              <a:rPr lang="en-US" sz="2000" b="1"/>
              <a:t>Run the Action Server: </a:t>
            </a:r>
            <a:r>
              <a:rPr lang="en-US" sz="2000"/>
              <a:t>rasa run actions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77" name="Google Shape;277;g346492f14bc_1_32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78" name="Google Shape;278;g346492f14bc_1_329" title="Screenshot 2025-03-31 at 08.17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588" y="3842050"/>
            <a:ext cx="7034974" cy="23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6492f14bc_1_52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Rasa NLU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46492f14bc_1_52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86" name="Google Shape;286;g346492f14bc_1_52"/>
          <p:cNvSpPr txBox="1"/>
          <p:nvPr/>
        </p:nvSpPr>
        <p:spPr>
          <a:xfrm>
            <a:off x="315800" y="1049000"/>
            <a:ext cx="8380800" cy="5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to Rasa NLU:</a:t>
            </a: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Rasa NLU? (Natural Language Understanding)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Role of Rasa NLU in extracting intents and entities from user messages.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Overview of intents, entities, and training data.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Components of Rasa NLU:</a:t>
            </a:r>
            <a:endParaRPr sz="2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Intents: Define what the user wants to do (e.g., book a flight).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Entities: Extract relevant information (e.g., from_city, to_city, date).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Training 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6492f14bc_1_65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Rasa NLU</a:t>
            </a:r>
            <a:endParaRPr/>
          </a:p>
        </p:txBody>
      </p:sp>
      <p:sp>
        <p:nvSpPr>
          <p:cNvPr id="293" name="Google Shape;293;g346492f14bc_1_65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94" name="Google Shape;294;g346492f14bc_1_65" title="Screenshot 2025-03-31 at 06.03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00" y="1964900"/>
            <a:ext cx="8531001" cy="292818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46492f14bc_1_65"/>
          <p:cNvSpPr txBox="1"/>
          <p:nvPr/>
        </p:nvSpPr>
        <p:spPr>
          <a:xfrm>
            <a:off x="306500" y="947475"/>
            <a:ext cx="853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Create NLU training data in </a:t>
            </a:r>
            <a:r>
              <a:rPr lang="en-U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data/nlu.yml</a:t>
            </a:r>
            <a:r>
              <a:rPr lang="en-US" sz="2000" i="1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file with intents like </a:t>
            </a:r>
            <a:r>
              <a:rPr lang="en-US" sz="2000" b="1">
                <a:latin typeface="Lato"/>
                <a:ea typeface="Lato"/>
                <a:cs typeface="Lato"/>
                <a:sym typeface="Lato"/>
              </a:rPr>
              <a:t>greet, book_flight, flight_info</a:t>
            </a:r>
            <a:endParaRPr sz="2000"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6492f14bc_1_7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Rasa NLU</a:t>
            </a:r>
            <a:endParaRPr/>
          </a:p>
        </p:txBody>
      </p:sp>
      <p:sp>
        <p:nvSpPr>
          <p:cNvPr id="302" name="Google Shape;302;g346492f14bc_1_76"/>
          <p:cNvSpPr txBox="1">
            <a:spLocks noGrp="1"/>
          </p:cNvSpPr>
          <p:nvPr>
            <p:ph type="body" idx="1"/>
          </p:nvPr>
        </p:nvSpPr>
        <p:spPr>
          <a:xfrm>
            <a:off x="302600" y="1014154"/>
            <a:ext cx="8673900" cy="12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Configuring NLU Pipeline: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Explanation of </a:t>
            </a:r>
            <a:r>
              <a:rPr lang="en-US" sz="20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config.yml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with pipeline components: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46492f14bc_1_7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04" name="Google Shape;304;g346492f14bc_1_76" title="Screenshot 2025-03-31 at 06.13.59.png"/>
          <p:cNvPicPr preferRelativeResize="0"/>
          <p:nvPr/>
        </p:nvPicPr>
        <p:blipFill rotWithShape="1">
          <a:blip r:embed="rId3">
            <a:alphaModFix/>
          </a:blip>
          <a:srcRect r="-19360" b="5150"/>
          <a:stretch/>
        </p:blipFill>
        <p:spPr>
          <a:xfrm>
            <a:off x="2381025" y="1979000"/>
            <a:ext cx="4382000" cy="19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46492f14bc_1_76"/>
          <p:cNvSpPr txBox="1"/>
          <p:nvPr/>
        </p:nvSpPr>
        <p:spPr>
          <a:xfrm>
            <a:off x="302600" y="4184338"/>
            <a:ext cx="8157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Lato"/>
                <a:ea typeface="Lato"/>
                <a:cs typeface="Lato"/>
                <a:sym typeface="Lato"/>
              </a:rPr>
              <a:t>Training and Testing NLU Model:</a:t>
            </a:r>
            <a:endParaRPr sz="2000" b="1"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Training model use: </a:t>
            </a: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rasa train nlu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Testing model use: </a:t>
            </a: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rasa shell nlu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Checking intents and entities extraction from user messages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6492f14bc_1_9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12" name="Google Shape;312;g346492f14bc_1_9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Practical Exercise</a:t>
            </a:r>
            <a:endParaRPr/>
          </a:p>
        </p:txBody>
      </p:sp>
      <p:sp>
        <p:nvSpPr>
          <p:cNvPr id="313" name="Google Shape;313;g346492f14bc_1_91"/>
          <p:cNvSpPr txBox="1">
            <a:spLocks noGrp="1"/>
          </p:cNvSpPr>
          <p:nvPr>
            <p:ph type="body" idx="1"/>
          </p:nvPr>
        </p:nvSpPr>
        <p:spPr>
          <a:xfrm>
            <a:off x="234950" y="1227550"/>
            <a:ext cx="8674200" cy="486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Build and train a basic NLU model for flight booking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Test with sentences like: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"Tôi muốn đặt vé máy bay từ Hà Nội đến Đà Lạt"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"Đặt vé từ Đà Nẵng tới Huế vào thứ hai"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126ea4335_0_17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20" name="Google Shape;320;g35126ea4335_0_17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Rasa NLU to Rasa CALM</a:t>
            </a:r>
            <a:endParaRPr/>
          </a:p>
        </p:txBody>
      </p:sp>
      <p:sp>
        <p:nvSpPr>
          <p:cNvPr id="321" name="Google Shape;321;g35126ea4335_0_179"/>
          <p:cNvSpPr txBox="1">
            <a:spLocks noGrp="1"/>
          </p:cNvSpPr>
          <p:nvPr>
            <p:ph type="body" idx="1"/>
          </p:nvPr>
        </p:nvSpPr>
        <p:spPr>
          <a:xfrm>
            <a:off x="234950" y="1227550"/>
            <a:ext cx="8674200" cy="486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Previous Slides: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You may have worked with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Rasa NLU pipelines</a:t>
            </a:r>
            <a:br>
              <a:rPr lang="en-US" sz="2000" b="1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(e.g., intent classification, entity extraction using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config.yml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In This Practical Session: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We are using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Rasa CALM</a:t>
            </a:r>
            <a:br>
              <a:rPr lang="en-US" sz="2000" b="1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→ Focused on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Flow-based dialogue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not intent-based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No NLU pipeline is required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00c5cc589_0_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Rasa CALM</a:t>
            </a:r>
            <a:endParaRPr/>
          </a:p>
        </p:txBody>
      </p:sp>
      <p:sp>
        <p:nvSpPr>
          <p:cNvPr id="328" name="Google Shape;328;g3400c5cc589_0_0"/>
          <p:cNvSpPr txBox="1">
            <a:spLocks noGrp="1"/>
          </p:cNvSpPr>
          <p:nvPr>
            <p:ph type="body" idx="1"/>
          </p:nvPr>
        </p:nvSpPr>
        <p:spPr>
          <a:xfrm>
            <a:off x="473601" y="1115228"/>
            <a:ext cx="8451300" cy="468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What is Rasa CALM?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Rasa CALM (Conversational AI with Language Models)</a:t>
            </a:r>
            <a:r>
              <a:rPr lang="en-US" sz="2000"/>
              <a:t> is an enterprise-grade conversational AI framework built on top of Rasa Open Source, providing advanced features for developing, deploying, and managing complex AI assistants.</a:t>
            </a:r>
            <a:br>
              <a:rPr lang="en-US" sz="2000"/>
            </a:b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Unlike Rasa Open Source, Rasa CALM is specifically designed for enterprise use cases with enhanced tools and integrations.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29" name="Google Shape;329;g3400c5cc589_0_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00c5cc589_0_8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Key Features of Rasa CALM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400c5cc589_0_8"/>
          <p:cNvSpPr txBox="1">
            <a:spLocks noGrp="1"/>
          </p:cNvSpPr>
          <p:nvPr>
            <p:ph type="body" idx="1"/>
          </p:nvPr>
        </p:nvSpPr>
        <p:spPr>
          <a:xfrm>
            <a:off x="235075" y="968112"/>
            <a:ext cx="8763000" cy="514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LLM Integration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Seamless connection to </a:t>
            </a:r>
            <a:r>
              <a:rPr lang="en-US" sz="2000" b="1"/>
              <a:t>GPT-4</a:t>
            </a:r>
            <a:r>
              <a:rPr lang="en-US" sz="2000"/>
              <a:t>, </a:t>
            </a:r>
            <a:r>
              <a:rPr lang="en-US" sz="2000" b="1"/>
              <a:t>open-source</a:t>
            </a:r>
            <a:r>
              <a:rPr lang="en-US" sz="2000"/>
              <a:t>, or </a:t>
            </a:r>
            <a:r>
              <a:rPr lang="en-US" sz="2000" b="1"/>
              <a:t>custom fine-tuned models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Improves both </a:t>
            </a:r>
            <a:r>
              <a:rPr lang="en-US" sz="2000" b="1"/>
              <a:t>language understanding</a:t>
            </a:r>
            <a:r>
              <a:rPr lang="en-US" sz="2000"/>
              <a:t> and </a:t>
            </a:r>
            <a:r>
              <a:rPr lang="en-US" sz="2000" b="1"/>
              <a:t>response generation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 b="1"/>
              <a:t>Flow-based Dialogue Management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structured conversations using </a:t>
            </a:r>
            <a:r>
              <a:rPr lang="en-US" sz="2000" b="1"/>
              <a:t>flows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Supports: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Multi-turn dialogues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Conditional logic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Dynamic slot handling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337" name="Google Shape;337;g3400c5cc589_0_8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126ea4335_0_27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Key Features of Rasa CALM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5126ea4335_0_276"/>
          <p:cNvSpPr txBox="1">
            <a:spLocks noGrp="1"/>
          </p:cNvSpPr>
          <p:nvPr>
            <p:ph type="body" idx="1"/>
          </p:nvPr>
        </p:nvSpPr>
        <p:spPr>
          <a:xfrm>
            <a:off x="235075" y="978150"/>
            <a:ext cx="8511600" cy="491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Enterprise Search Capabilities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Integrates with </a:t>
            </a:r>
            <a:r>
              <a:rPr lang="en-US" sz="2000" b="1"/>
              <a:t>FAISS</a:t>
            </a:r>
            <a:r>
              <a:rPr lang="en-US" sz="2000"/>
              <a:t>, </a:t>
            </a:r>
            <a:r>
              <a:rPr lang="en-US" sz="2000" b="1"/>
              <a:t>Milvus</a:t>
            </a:r>
            <a:r>
              <a:rPr lang="en-US" sz="2000"/>
              <a:t>, </a:t>
            </a:r>
            <a:r>
              <a:rPr lang="en-US" sz="2000" b="1"/>
              <a:t>Qdrant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Enables </a:t>
            </a:r>
            <a:r>
              <a:rPr lang="en-US" sz="2000" b="1"/>
              <a:t>context-aware responses</a:t>
            </a:r>
            <a:r>
              <a:rPr lang="en-US" sz="2000"/>
              <a:t> from large datasets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Customization &amp; Fine-Tuning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Train and fine-tune LLMs for </a:t>
            </a:r>
            <a:r>
              <a:rPr lang="en-US" sz="2000" b="1"/>
              <a:t>domain-specific tasks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Improve precision for </a:t>
            </a:r>
            <a:r>
              <a:rPr lang="en-US" sz="2000" b="1"/>
              <a:t>specialized use cases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 b="1"/>
              <a:t>Enterprise-Ready Scalability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Built to handle </a:t>
            </a:r>
            <a:r>
              <a:rPr lang="en-US" sz="2000" b="1"/>
              <a:t>high-load deployments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Includes tools for: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Monitoring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Maintenance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Performance optimization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45" name="Google Shape;345;g35126ea4335_0_27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6492f14bc_1_392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/>
              <a:t>Functional Requirements</a:t>
            </a:r>
            <a:endParaRPr/>
          </a:p>
        </p:txBody>
      </p:sp>
      <p:sp>
        <p:nvSpPr>
          <p:cNvPr id="352" name="Google Shape;352;g346492f14bc_1_392"/>
          <p:cNvSpPr txBox="1">
            <a:spLocks noGrp="1"/>
          </p:cNvSpPr>
          <p:nvPr>
            <p:ph type="body" idx="1"/>
          </p:nvPr>
        </p:nvSpPr>
        <p:spPr>
          <a:xfrm>
            <a:off x="235075" y="953100"/>
            <a:ext cx="8673900" cy="49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The user wants to </a:t>
            </a:r>
            <a:r>
              <a:rPr lang="en-US" sz="2000" b="1"/>
              <a:t>search for available flights</a:t>
            </a:r>
            <a:r>
              <a:rPr lang="en-US" sz="2000"/>
              <a:t> based on: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Departure City</a:t>
            </a:r>
            <a:r>
              <a:rPr lang="en-US" sz="2000"/>
              <a:t> (</a:t>
            </a:r>
            <a:r>
              <a:rPr lang="en-US" sz="2000">
                <a:solidFill>
                  <a:srgbClr val="188038"/>
                </a:solidFill>
              </a:rPr>
              <a:t>from_city</a:t>
            </a:r>
            <a:r>
              <a:rPr lang="en-US" sz="2000"/>
              <a:t>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Destination City</a:t>
            </a:r>
            <a:r>
              <a:rPr lang="en-US" sz="2000"/>
              <a:t> (</a:t>
            </a:r>
            <a:r>
              <a:rPr lang="en-US" sz="2000">
                <a:solidFill>
                  <a:srgbClr val="188038"/>
                </a:solidFill>
              </a:rPr>
              <a:t>to_city</a:t>
            </a:r>
            <a:r>
              <a:rPr lang="en-US" sz="2000"/>
              <a:t>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Travel Date</a:t>
            </a:r>
            <a:r>
              <a:rPr lang="en-US" sz="2000"/>
              <a:t> (</a:t>
            </a:r>
            <a:r>
              <a:rPr lang="en-US" sz="2000">
                <a:solidFill>
                  <a:srgbClr val="188038"/>
                </a:solidFill>
              </a:rPr>
              <a:t>travel_date</a:t>
            </a:r>
            <a:r>
              <a:rPr lang="en-US" sz="2000"/>
              <a:t>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The assistant should: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Collect the required information (slots) if missing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Read flight data from a CSV file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Filter and return a list of matching flights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Return a fallback message if no flights are found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53" name="Google Shape;353;g346492f14bc_1_392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126ea4335_0_7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 Expected Result</a:t>
            </a:r>
            <a:endParaRPr/>
          </a:p>
        </p:txBody>
      </p:sp>
      <p:sp>
        <p:nvSpPr>
          <p:cNvPr id="360" name="Google Shape;360;g35126ea4335_0_7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361" name="Google Shape;361;g35126ea4335_0_73" title="Screenshot 2025-04-25 at 11.10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425" y="1246125"/>
            <a:ext cx="7499201" cy="38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126ea4335_0_5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 Step-by-Step Implementation</a:t>
            </a:r>
            <a:endParaRPr/>
          </a:p>
        </p:txBody>
      </p:sp>
      <p:sp>
        <p:nvSpPr>
          <p:cNvPr id="368" name="Google Shape;368;g35126ea4335_0_59"/>
          <p:cNvSpPr txBox="1">
            <a:spLocks noGrp="1"/>
          </p:cNvSpPr>
          <p:nvPr>
            <p:ph type="body" idx="1"/>
          </p:nvPr>
        </p:nvSpPr>
        <p:spPr>
          <a:xfrm>
            <a:off x="235066" y="1045175"/>
            <a:ext cx="78255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/>
              <a:t>Step 1: Define Slots &amp; Responses in domain.yml</a:t>
            </a:r>
            <a:endParaRPr sz="24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the </a:t>
            </a:r>
            <a:r>
              <a:rPr lang="en-US" sz="2000" b="1"/>
              <a:t>3 required slots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from_city</a:t>
            </a:r>
            <a:r>
              <a:rPr lang="en-US" sz="2000"/>
              <a:t>: the departure location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to_city</a:t>
            </a:r>
            <a:r>
              <a:rPr lang="en-US" sz="2000"/>
              <a:t>: the destination location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travel_date</a:t>
            </a:r>
            <a:r>
              <a:rPr lang="en-US" sz="2000"/>
              <a:t>: the desired date of travel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Create appropriate </a:t>
            </a:r>
            <a:r>
              <a:rPr lang="en-US" sz="2000" b="1"/>
              <a:t>responses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Ask for missing information (e.g., "Where are you flying from?")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Display fallback message if no flights match the query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69" name="Google Shape;369;g35126ea4335_0_5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126ea4335_0_9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 Step-by-Step Implementation</a:t>
            </a:r>
            <a:endParaRPr/>
          </a:p>
        </p:txBody>
      </p:sp>
      <p:sp>
        <p:nvSpPr>
          <p:cNvPr id="376" name="Google Shape;376;g35126ea4335_0_91"/>
          <p:cNvSpPr txBox="1">
            <a:spLocks noGrp="1"/>
          </p:cNvSpPr>
          <p:nvPr>
            <p:ph type="body" idx="1"/>
          </p:nvPr>
        </p:nvSpPr>
        <p:spPr>
          <a:xfrm>
            <a:off x="235075" y="1068400"/>
            <a:ext cx="8034600" cy="434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/>
              <a:t>Step 2: Create Flow flows/search_flight.yml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Build a flow to manage the dialogue steps: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When the intent </a:t>
            </a:r>
            <a:r>
              <a:rPr lang="en-US" sz="2000">
                <a:solidFill>
                  <a:srgbClr val="188038"/>
                </a:solidFill>
              </a:rPr>
              <a:t>search_flight</a:t>
            </a:r>
            <a:r>
              <a:rPr lang="en-US" sz="2000"/>
              <a:t> is detected, check if the required slots are filled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any slot is missing, ask for it using the corresponding </a:t>
            </a:r>
            <a:r>
              <a:rPr lang="en-US" sz="2000">
                <a:solidFill>
                  <a:srgbClr val="188038"/>
                </a:solidFill>
              </a:rPr>
              <a:t>utter_ask_*</a:t>
            </a:r>
            <a:r>
              <a:rPr lang="en-US" sz="2000"/>
              <a:t> response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Once all slots are filled, trigger a custom action (</a:t>
            </a:r>
            <a:r>
              <a:rPr lang="en-US" sz="2000">
                <a:solidFill>
                  <a:srgbClr val="188038"/>
                </a:solidFill>
              </a:rPr>
              <a:t>action_search_flights</a:t>
            </a:r>
            <a:r>
              <a:rPr lang="en-US" sz="2000"/>
              <a:t>) to perform the actual search and return flight options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77" name="Google Shape;377;g35126ea4335_0_9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126ea4335_0_10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 Step-by-Step Implementation</a:t>
            </a:r>
            <a:endParaRPr/>
          </a:p>
        </p:txBody>
      </p:sp>
      <p:sp>
        <p:nvSpPr>
          <p:cNvPr id="384" name="Google Shape;384;g35126ea4335_0_100"/>
          <p:cNvSpPr txBox="1">
            <a:spLocks noGrp="1"/>
          </p:cNvSpPr>
          <p:nvPr>
            <p:ph type="body" idx="1"/>
          </p:nvPr>
        </p:nvSpPr>
        <p:spPr>
          <a:xfrm>
            <a:off x="317075" y="1045175"/>
            <a:ext cx="8476200" cy="504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/>
              <a:t>Step 3: Prepare Flight Data File</a:t>
            </a:r>
            <a:endParaRPr sz="24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Download a CSV file ( </a:t>
            </a:r>
            <a:r>
              <a:rPr lang="en-US" sz="2000">
                <a:solidFill>
                  <a:srgbClr val="188038"/>
                </a:solidFill>
              </a:rPr>
              <a:t>flight_data.csv</a:t>
            </a:r>
            <a:r>
              <a:rPr lang="en-US" sz="2000"/>
              <a:t>) or automatically create files containing flight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Required fields in the file should include: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flight_code</a:t>
            </a:r>
            <a:r>
              <a:rPr lang="en-US" sz="2000"/>
              <a:t>: unique code for each flight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departure_time</a:t>
            </a:r>
            <a:r>
              <a:rPr lang="en-US" sz="2000"/>
              <a:t>, </a:t>
            </a:r>
            <a:r>
              <a:rPr lang="en-US" sz="2000">
                <a:solidFill>
                  <a:srgbClr val="188038"/>
                </a:solidFill>
              </a:rPr>
              <a:t>arrival_time</a:t>
            </a:r>
            <a:r>
              <a:rPr lang="en-US" sz="2000"/>
              <a:t>: time of departure and arrival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from_city</a:t>
            </a:r>
            <a:r>
              <a:rPr lang="en-US" sz="2000"/>
              <a:t>, </a:t>
            </a:r>
            <a:r>
              <a:rPr lang="en-US" sz="2000">
                <a:solidFill>
                  <a:srgbClr val="188038"/>
                </a:solidFill>
              </a:rPr>
              <a:t>to_city</a:t>
            </a:r>
            <a:r>
              <a:rPr lang="en-US" sz="2000"/>
              <a:t>: origin and destination cities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available_seats</a:t>
            </a:r>
            <a:r>
              <a:rPr lang="en-US" sz="2000"/>
              <a:t>: number of remaining seats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price</a:t>
            </a:r>
            <a:r>
              <a:rPr lang="en-US" sz="2000"/>
              <a:t>: ticket price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</a:rPr>
              <a:t>class</a:t>
            </a:r>
            <a:r>
              <a:rPr lang="en-US" sz="2000"/>
              <a:t>: flight class (e.g., Economy, Business)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85" name="Google Shape;385;g35126ea4335_0_10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126ea4335_0_11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for Flights: Step-by-Step Implementation</a:t>
            </a:r>
            <a:endParaRPr/>
          </a:p>
        </p:txBody>
      </p:sp>
      <p:sp>
        <p:nvSpPr>
          <p:cNvPr id="392" name="Google Shape;392;g35126ea4335_0_110"/>
          <p:cNvSpPr txBox="1">
            <a:spLocks noGrp="1"/>
          </p:cNvSpPr>
          <p:nvPr>
            <p:ph type="body" idx="1"/>
          </p:nvPr>
        </p:nvSpPr>
        <p:spPr>
          <a:xfrm>
            <a:off x="317075" y="1045175"/>
            <a:ext cx="8476200" cy="504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/>
              <a:t>Step 4: Write Custom Action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In the </a:t>
            </a:r>
            <a:r>
              <a:rPr lang="en-US" sz="2000">
                <a:solidFill>
                  <a:srgbClr val="188038"/>
                </a:solidFill>
              </a:rPr>
              <a:t>action_search_flights</a:t>
            </a:r>
            <a:r>
              <a:rPr lang="en-US" sz="2000"/>
              <a:t> custom action: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Load the CSV file containing flight data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Normalize and parse the </a:t>
            </a:r>
            <a:r>
              <a:rPr lang="en-US" sz="2000">
                <a:solidFill>
                  <a:srgbClr val="188038"/>
                </a:solidFill>
              </a:rPr>
              <a:t>travel_date</a:t>
            </a:r>
            <a:r>
              <a:rPr lang="en-US" sz="2000"/>
              <a:t> into a consistent format (e.g., </a:t>
            </a:r>
            <a:r>
              <a:rPr lang="en-US" sz="2000">
                <a:solidFill>
                  <a:srgbClr val="188038"/>
                </a:solidFill>
              </a:rPr>
              <a:t>YYYY-MM-DD</a:t>
            </a:r>
            <a:r>
              <a:rPr lang="en-US" sz="2000"/>
              <a:t>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Filter the dataset based on: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Matching </a:t>
            </a:r>
            <a:r>
              <a:rPr lang="en-US" sz="2000">
                <a:solidFill>
                  <a:srgbClr val="188038"/>
                </a:solidFill>
              </a:rPr>
              <a:t>from_city</a:t>
            </a:r>
            <a:r>
              <a:rPr lang="en-US" sz="2000"/>
              <a:t> and </a:t>
            </a:r>
            <a:r>
              <a:rPr lang="en-US" sz="2000">
                <a:solidFill>
                  <a:srgbClr val="188038"/>
                </a:solidFill>
              </a:rPr>
              <a:t>to_city</a:t>
            </a:r>
            <a:r>
              <a:rPr lang="en-US" sz="2000"/>
              <a:t> values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Flights that still have available seats (</a:t>
            </a:r>
            <a:r>
              <a:rPr lang="en-US" sz="2000">
                <a:solidFill>
                  <a:srgbClr val="188038"/>
                </a:solidFill>
              </a:rPr>
              <a:t>available_seats &gt; 0</a:t>
            </a:r>
            <a:r>
              <a:rPr lang="en-US" sz="2000"/>
              <a:t>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Format and return the matching flights in a readable message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If no suitable flights are found, return a response informing the user accordingly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393" name="Google Shape;393;g35126ea4335_0_11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126ea4335_0_25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Your Rasa Assistant</a:t>
            </a:r>
            <a:endParaRPr/>
          </a:p>
        </p:txBody>
      </p:sp>
      <p:sp>
        <p:nvSpPr>
          <p:cNvPr id="400" name="Google Shape;400;g35126ea4335_0_251"/>
          <p:cNvSpPr txBox="1">
            <a:spLocks noGrp="1"/>
          </p:cNvSpPr>
          <p:nvPr>
            <p:ph type="body" idx="1"/>
          </p:nvPr>
        </p:nvSpPr>
        <p:spPr>
          <a:xfrm>
            <a:off x="282250" y="1015500"/>
            <a:ext cx="8464500" cy="507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1: Train Your Assistant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Ensure your assistant is trained with the latest data:​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rasa train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2: Launch Rasa Inspector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Use Rasa Inspector for an interactive, browser-based testing experience:​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rasa inspect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This command opens a browser window featuring:​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Chat Widget</a:t>
            </a:r>
            <a:r>
              <a:rPr lang="en-US" sz="2000"/>
              <a:t>: Engage in conversations with your assistant.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Flow View</a:t>
            </a:r>
            <a:r>
              <a:rPr lang="en-US" sz="2000"/>
              <a:t>: Visualize active flows and their current steps.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Stack View</a:t>
            </a:r>
            <a:r>
              <a:rPr lang="en-US" sz="2000"/>
              <a:t>: Monitor the sequence of activated flows.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Tracker State</a:t>
            </a:r>
            <a:r>
              <a:rPr lang="en-US" sz="2000"/>
              <a:t>: Inspect slot values, events, and conversation history.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01" name="Google Shape;401;g35126ea4335_0_25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126ea4335_0_4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Booking Flights: Functional Requirements</a:t>
            </a:r>
            <a:endParaRPr/>
          </a:p>
        </p:txBody>
      </p:sp>
      <p:sp>
        <p:nvSpPr>
          <p:cNvPr id="408" name="Google Shape;408;g35126ea4335_0_49"/>
          <p:cNvSpPr txBox="1">
            <a:spLocks noGrp="1"/>
          </p:cNvSpPr>
          <p:nvPr>
            <p:ph type="body" idx="1"/>
          </p:nvPr>
        </p:nvSpPr>
        <p:spPr>
          <a:xfrm>
            <a:off x="235075" y="953100"/>
            <a:ext cx="8673900" cy="49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user wants to </a:t>
            </a:r>
            <a:r>
              <a:rPr lang="en-US" sz="2000" b="1"/>
              <a:t>book a flight</a:t>
            </a:r>
            <a:r>
              <a:rPr lang="en-US" sz="2000"/>
              <a:t> by: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Providing a </a:t>
            </a:r>
            <a:r>
              <a:rPr lang="en-US" sz="2000" b="1"/>
              <a:t>flight code</a:t>
            </a:r>
            <a:r>
              <a:rPr lang="en-US" sz="2000"/>
              <a:t> and </a:t>
            </a:r>
            <a:r>
              <a:rPr lang="en-US" sz="2000" b="1"/>
              <a:t>number of tickets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Entering personal information for </a:t>
            </a:r>
            <a:r>
              <a:rPr lang="en-US" sz="2000" b="1"/>
              <a:t>each passenger</a:t>
            </a:r>
            <a:r>
              <a:rPr lang="en-US" sz="2000"/>
              <a:t>, including: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Full name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ID number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Phone number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system should: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Loop through the number of passengers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Collect and store each passenger’s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Once all passengers are collected, confirm the booking and return a </a:t>
            </a:r>
            <a:r>
              <a:rPr lang="en-US" sz="2000" b="1"/>
              <a:t>booking code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09" name="Google Shape;409;g35126ea4335_0_4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126ea4335_0_13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Booking Flights: Expected Result</a:t>
            </a:r>
            <a:endParaRPr/>
          </a:p>
        </p:txBody>
      </p:sp>
      <p:sp>
        <p:nvSpPr>
          <p:cNvPr id="416" name="Google Shape;416;g35126ea4335_0_13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17" name="Google Shape;417;g35126ea4335_0_131" title="Screenshot 2025-04-25 at 11.24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438" y="1205888"/>
            <a:ext cx="4807175" cy="47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126ea4335_0_12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Booking Flights: Step-by-Step Implementation</a:t>
            </a:r>
            <a:endParaRPr/>
          </a:p>
        </p:txBody>
      </p:sp>
      <p:sp>
        <p:nvSpPr>
          <p:cNvPr id="424" name="Google Shape;424;g35126ea4335_0_120"/>
          <p:cNvSpPr txBox="1">
            <a:spLocks noGrp="1"/>
          </p:cNvSpPr>
          <p:nvPr>
            <p:ph type="body" idx="1"/>
          </p:nvPr>
        </p:nvSpPr>
        <p:spPr>
          <a:xfrm>
            <a:off x="235075" y="1149700"/>
            <a:ext cx="8523300" cy="481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1: Define Required Slots in </a:t>
            </a:r>
            <a:r>
              <a:rPr lang="en-US" sz="2000" b="1">
                <a:solidFill>
                  <a:srgbClr val="188038"/>
                </a:solidFill>
              </a:rPr>
              <a:t>domain.yml </a:t>
            </a:r>
            <a:r>
              <a:rPr lang="en-US" sz="2000" b="1"/>
              <a:t>and</a:t>
            </a:r>
            <a:r>
              <a:rPr lang="en-US" sz="2000" b="1">
                <a:solidFill>
                  <a:srgbClr val="188038"/>
                </a:solidFill>
              </a:rPr>
              <a:t> flow.yml</a:t>
            </a:r>
            <a:endParaRPr sz="2000" b="1">
              <a:solidFill>
                <a:srgbClr val="188038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You’ll need the following slots: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flight_code</a:t>
            </a:r>
            <a:r>
              <a:rPr lang="en-US" sz="2000"/>
              <a:t>: stores the flight identifier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num_tickets</a:t>
            </a:r>
            <a:r>
              <a:rPr lang="en-US" sz="2000"/>
              <a:t>: stores the number of passengers to collect info for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passenger_info</a:t>
            </a:r>
            <a:r>
              <a:rPr lang="en-US" sz="2000"/>
              <a:t>: list of passenger dictionaries (name, ID, phone)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current_passenger_index</a:t>
            </a:r>
            <a:r>
              <a:rPr lang="en-US" sz="2000"/>
              <a:t>: to keep track of the current passenger being processed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Temporary slots for each passenger:</a:t>
            </a:r>
            <a:endParaRPr sz="200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</a:pPr>
            <a:r>
              <a:rPr lang="en-US">
                <a:solidFill>
                  <a:srgbClr val="188038"/>
                </a:solidFill>
              </a:rPr>
              <a:t>passenger_name</a:t>
            </a:r>
            <a:endParaRPr>
              <a:solidFill>
                <a:srgbClr val="188038"/>
              </a:solidFill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</a:pPr>
            <a:r>
              <a:rPr lang="en-US">
                <a:solidFill>
                  <a:srgbClr val="188038"/>
                </a:solidFill>
              </a:rPr>
              <a:t>passenger_id</a:t>
            </a:r>
            <a:endParaRPr>
              <a:solidFill>
                <a:srgbClr val="188038"/>
              </a:solidFill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</a:pPr>
            <a:r>
              <a:rPr lang="en-US">
                <a:solidFill>
                  <a:srgbClr val="188038"/>
                </a:solidFill>
              </a:rPr>
              <a:t>passenger_phone</a:t>
            </a:r>
            <a:endParaRPr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425" name="Google Shape;425;g35126ea4335_0_12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5126ea4335_0_14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Booking Flights: Step-by-Step Implementation</a:t>
            </a:r>
            <a:endParaRPr/>
          </a:p>
        </p:txBody>
      </p:sp>
      <p:sp>
        <p:nvSpPr>
          <p:cNvPr id="432" name="Google Shape;432;g35126ea4335_0_140"/>
          <p:cNvSpPr txBox="1">
            <a:spLocks noGrp="1"/>
          </p:cNvSpPr>
          <p:nvPr>
            <p:ph type="body" idx="1"/>
          </p:nvPr>
        </p:nvSpPr>
        <p:spPr>
          <a:xfrm>
            <a:off x="235076" y="974700"/>
            <a:ext cx="8069700" cy="490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Step 2: Collect Passenger Info with Sequential Custom Actions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chain of custom actions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to collect and store passenger details in order: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Ask for the </a:t>
            </a:r>
            <a:r>
              <a:rPr lang="en-US" sz="2000" b="1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passenger’s name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using the current index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After the user replies, store the name and follow up with a prompt for </a:t>
            </a:r>
            <a:r>
              <a:rPr lang="en-US" sz="2000" b="1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ID number</a:t>
            </a:r>
            <a:endParaRPr sz="2000" b="1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Store the ID and ask for the </a:t>
            </a:r>
            <a:r>
              <a:rPr lang="en-US" sz="2000" b="1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phone number</a:t>
            </a:r>
            <a:endParaRPr sz="2000" b="1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Once the phone number is received: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Store the complete passenger info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Increase the passenger index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 more passengers remain → repeat the 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 finished → proceed to final booking step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33" name="Google Shape;433;g35126ea4335_0_14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126ea4335_0_15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Booking Flights: Step-by-Step Implementation</a:t>
            </a:r>
            <a:endParaRPr/>
          </a:p>
        </p:txBody>
      </p:sp>
      <p:sp>
        <p:nvSpPr>
          <p:cNvPr id="440" name="Google Shape;440;g35126ea4335_0_151"/>
          <p:cNvSpPr txBox="1">
            <a:spLocks noGrp="1"/>
          </p:cNvSpPr>
          <p:nvPr>
            <p:ph type="body" idx="1"/>
          </p:nvPr>
        </p:nvSpPr>
        <p:spPr>
          <a:xfrm>
            <a:off x="235066" y="1045175"/>
            <a:ext cx="7953300" cy="461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3: Store Passenger Data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After each passenger’s full data is collected: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Append it to the </a:t>
            </a:r>
            <a:r>
              <a:rPr lang="en-US" sz="2000">
                <a:solidFill>
                  <a:srgbClr val="188038"/>
                </a:solidFill>
              </a:rPr>
              <a:t>passenger_info</a:t>
            </a:r>
            <a:r>
              <a:rPr lang="en-US" sz="2000"/>
              <a:t> slot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Clear temporary slots (</a:t>
            </a:r>
            <a:r>
              <a:rPr lang="en-US" sz="2000">
                <a:solidFill>
                  <a:srgbClr val="188038"/>
                </a:solidFill>
              </a:rPr>
              <a:t>passenger_name</a:t>
            </a:r>
            <a:r>
              <a:rPr lang="en-US" sz="2000"/>
              <a:t>, </a:t>
            </a:r>
            <a:r>
              <a:rPr lang="en-US" sz="2000">
                <a:solidFill>
                  <a:srgbClr val="188038"/>
                </a:solidFill>
              </a:rPr>
              <a:t>passenger_id</a:t>
            </a:r>
            <a:r>
              <a:rPr lang="en-US" sz="2000"/>
              <a:t>, etc.)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Update </a:t>
            </a:r>
            <a:r>
              <a:rPr lang="en-US" sz="2000">
                <a:solidFill>
                  <a:srgbClr val="188038"/>
                </a:solidFill>
              </a:rPr>
              <a:t>current_passenger_index</a:t>
            </a:r>
            <a:endParaRPr sz="2000">
              <a:solidFill>
                <a:srgbClr val="188038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When all passengers are collected: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Inform the user that passenger input is complete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Trigger a follow-up action (e.g. </a:t>
            </a:r>
            <a:r>
              <a:rPr lang="en-US" sz="2000">
                <a:solidFill>
                  <a:srgbClr val="188038"/>
                </a:solidFill>
              </a:rPr>
              <a:t>action_book_selected_flight</a:t>
            </a:r>
            <a:r>
              <a:rPr lang="en-US" sz="2000"/>
              <a:t>) to finalize the booking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41" name="Google Shape;441;g35126ea4335_0_15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126ea4335_0_160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Booking Flights: Step-by-Step Implementation</a:t>
            </a:r>
            <a:endParaRPr/>
          </a:p>
        </p:txBody>
      </p:sp>
      <p:sp>
        <p:nvSpPr>
          <p:cNvPr id="448" name="Google Shape;448;g35126ea4335_0_160"/>
          <p:cNvSpPr txBox="1">
            <a:spLocks noGrp="1"/>
          </p:cNvSpPr>
          <p:nvPr>
            <p:ph type="body" idx="1"/>
          </p:nvPr>
        </p:nvSpPr>
        <p:spPr>
          <a:xfrm>
            <a:off x="235077" y="1114875"/>
            <a:ext cx="83130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4: Confirm Booking and Return Result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Once all data is collected, the final action should: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Check if the flight exists and has enough seats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Confirm the booking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Generate a </a:t>
            </a:r>
            <a:r>
              <a:rPr lang="en-US" sz="2000" b="1"/>
              <a:t>booking reference code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Return a success message with a summary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49" name="Google Shape;449;g35126ea4335_0_160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126ea4335_0_169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Booking Infor: 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/>
              <a:t>Functional Requirements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5126ea4335_0_169"/>
          <p:cNvSpPr txBox="1">
            <a:spLocks noGrp="1"/>
          </p:cNvSpPr>
          <p:nvPr>
            <p:ph type="body" idx="1"/>
          </p:nvPr>
        </p:nvSpPr>
        <p:spPr>
          <a:xfrm>
            <a:off x="235065" y="1172075"/>
            <a:ext cx="79998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user wants to </a:t>
            </a:r>
            <a:r>
              <a:rPr lang="en-US" sz="2000" b="1"/>
              <a:t>review the details of a booking</a:t>
            </a:r>
            <a:r>
              <a:rPr lang="en-US" sz="2000"/>
              <a:t> by providing a </a:t>
            </a:r>
            <a:r>
              <a:rPr lang="en-US" sz="2000" b="1"/>
              <a:t>booking code</a:t>
            </a:r>
            <a:endParaRPr sz="20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The system should: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Ask for the booking code if it's not already provided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Look up the booking information (from database, CSV, or in-memory mock data)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Return the relevant booking details such as: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Flight code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Passenger list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Departure &amp; destination cities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Travel date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Number of passengers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57" name="Google Shape;457;g35126ea4335_0_169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126ea4335_0_195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Booking Infor: Expected Result</a:t>
            </a:r>
            <a:endParaRPr/>
          </a:p>
        </p:txBody>
      </p:sp>
      <p:sp>
        <p:nvSpPr>
          <p:cNvPr id="464" name="Google Shape;464;g35126ea4335_0_195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465" name="Google Shape;465;g35126ea4335_0_195" title="Screenshot 2025-04-25 at 11.43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225" y="1362075"/>
            <a:ext cx="63055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5126ea4335_0_186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Check Booking Infor: Step-by-Step Implementation</a:t>
            </a:r>
            <a:endParaRPr/>
          </a:p>
        </p:txBody>
      </p:sp>
      <p:sp>
        <p:nvSpPr>
          <p:cNvPr id="472" name="Google Shape;472;g35126ea4335_0_186"/>
          <p:cNvSpPr txBox="1">
            <a:spLocks noGrp="1"/>
          </p:cNvSpPr>
          <p:nvPr>
            <p:ph type="body" idx="1"/>
          </p:nvPr>
        </p:nvSpPr>
        <p:spPr>
          <a:xfrm>
            <a:off x="235075" y="1138100"/>
            <a:ext cx="8430300" cy="47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1: Define Slot &amp; Responses in </a:t>
            </a:r>
            <a:r>
              <a:rPr lang="en-US" sz="2000" b="1">
                <a:solidFill>
                  <a:srgbClr val="188038"/>
                </a:solidFill>
              </a:rPr>
              <a:t>domain.yml </a:t>
            </a:r>
            <a:r>
              <a:rPr lang="en-US" sz="2000" b="1"/>
              <a:t>and create flow</a:t>
            </a:r>
            <a:r>
              <a:rPr lang="en-US" sz="2000" b="1">
                <a:solidFill>
                  <a:srgbClr val="188038"/>
                </a:solidFill>
              </a:rPr>
              <a:t> check_booking</a:t>
            </a:r>
            <a:endParaRPr sz="2000" b="1">
              <a:solidFill>
                <a:srgbClr val="188038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Define the following slot: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booking_code</a:t>
            </a:r>
            <a:r>
              <a:rPr lang="en-US" sz="2000"/>
              <a:t>: to capture the booking reference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Define responses: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utter_ask_booking_code</a:t>
            </a:r>
            <a:r>
              <a:rPr lang="en-US" sz="2000"/>
              <a:t>: ask user to provide the booking code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utter_booking_not_found</a:t>
            </a:r>
            <a:r>
              <a:rPr lang="en-US" sz="2000"/>
              <a:t>: response if no matching booking is found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You may also define </a:t>
            </a:r>
            <a:r>
              <a:rPr lang="en-US" sz="2000">
                <a:solidFill>
                  <a:srgbClr val="188038"/>
                </a:solidFill>
              </a:rPr>
              <a:t>utter_booking_details</a:t>
            </a:r>
            <a:r>
              <a:rPr lang="en-US" sz="2000"/>
              <a:t> or return message in custom action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73" name="Google Shape;473;g35126ea4335_0_186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126ea4335_0_20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Booking Infor: Step-by-Step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80" name="Google Shape;480;g35126ea4335_0_203"/>
          <p:cNvSpPr txBox="1">
            <a:spLocks noGrp="1"/>
          </p:cNvSpPr>
          <p:nvPr>
            <p:ph type="body" idx="1"/>
          </p:nvPr>
        </p:nvSpPr>
        <p:spPr>
          <a:xfrm>
            <a:off x="235076" y="998700"/>
            <a:ext cx="8430300" cy="461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Step 2: Implement Custom Action </a:t>
            </a:r>
            <a:r>
              <a:rPr lang="en-US" sz="20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action_check_booking</a:t>
            </a:r>
            <a:endParaRPr sz="20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Retrieve the slot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booking_code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Check the booking data: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If stored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in memory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(e.g., domain slot or global variable), scan the list of bookings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If stored in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CSV file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read the file and find the matching booking row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Once a match is found: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Parse flight details: flight code, route, date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Parse passenger list (name, ID, phone)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Construct a summary message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If no match is found, return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utter_booking_not_found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5126ea4335_0_20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5126ea4335_0_214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Cancel Booking: Functional Requirements</a:t>
            </a:r>
            <a:endParaRPr/>
          </a:p>
        </p:txBody>
      </p:sp>
      <p:sp>
        <p:nvSpPr>
          <p:cNvPr id="488" name="Google Shape;488;g35126ea4335_0_214"/>
          <p:cNvSpPr txBox="1">
            <a:spLocks noGrp="1"/>
          </p:cNvSpPr>
          <p:nvPr>
            <p:ph type="body" idx="1"/>
          </p:nvPr>
        </p:nvSpPr>
        <p:spPr>
          <a:xfrm>
            <a:off x="235066" y="998700"/>
            <a:ext cx="78024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user wants to </a:t>
            </a:r>
            <a:r>
              <a:rPr lang="en-US" sz="2000" b="1"/>
              <a:t>cancel a flight booking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The system should: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Ask for the </a:t>
            </a:r>
            <a:r>
              <a:rPr lang="en-US" sz="2000" b="1"/>
              <a:t>booking code</a:t>
            </a:r>
            <a:r>
              <a:rPr lang="en-US" sz="2000"/>
              <a:t> if it’s not provided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Retrieve the booking details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Verify:</a:t>
            </a:r>
            <a:endParaRPr sz="200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Whether the </a:t>
            </a:r>
            <a:r>
              <a:rPr lang="en-US" b="1"/>
              <a:t>ticket class allows cancellation</a:t>
            </a:r>
            <a:r>
              <a:rPr lang="en-US"/>
              <a:t> (e.g., Economy may not be refundable)</a:t>
            </a:r>
            <a:endParaRPr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Whether the </a:t>
            </a:r>
            <a:r>
              <a:rPr lang="en-US" b="1"/>
              <a:t>current date is before the flight date</a:t>
            </a:r>
            <a:endParaRPr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If valid → cancel the booking and confirm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</a:pPr>
            <a:r>
              <a:rPr lang="en-US" sz="2000"/>
              <a:t>If invalid → explain why cancellation is not allowed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89" name="Google Shape;489;g35126ea4335_0_214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126ea4335_0_241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Cancel Booking: Expected Result</a:t>
            </a:r>
            <a:endParaRPr/>
          </a:p>
        </p:txBody>
      </p:sp>
      <p:sp>
        <p:nvSpPr>
          <p:cNvPr id="496" name="Google Shape;496;g35126ea4335_0_241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pic>
        <p:nvPicPr>
          <p:cNvPr id="497" name="Google Shape;497;g35126ea4335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63" y="2336575"/>
            <a:ext cx="8354274" cy="1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5126ea4335_0_223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Cancel Booking: Step-by-Step Implementation</a:t>
            </a:r>
            <a:endParaRPr/>
          </a:p>
        </p:txBody>
      </p:sp>
      <p:sp>
        <p:nvSpPr>
          <p:cNvPr id="504" name="Google Shape;504;g35126ea4335_0_223"/>
          <p:cNvSpPr txBox="1">
            <a:spLocks noGrp="1"/>
          </p:cNvSpPr>
          <p:nvPr>
            <p:ph type="body" idx="1"/>
          </p:nvPr>
        </p:nvSpPr>
        <p:spPr>
          <a:xfrm>
            <a:off x="235066" y="1138100"/>
            <a:ext cx="79068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1: Define Slot &amp; Responses in </a:t>
            </a:r>
            <a:r>
              <a:rPr lang="en-US" sz="2000" b="1">
                <a:solidFill>
                  <a:srgbClr val="188038"/>
                </a:solidFill>
              </a:rPr>
              <a:t>domain.yml </a:t>
            </a:r>
            <a:r>
              <a:rPr lang="en-US" sz="2000" b="1"/>
              <a:t>and create flow</a:t>
            </a:r>
            <a:r>
              <a:rPr lang="en-US" sz="2000" b="1">
                <a:solidFill>
                  <a:srgbClr val="188038"/>
                </a:solidFill>
              </a:rPr>
              <a:t> cancel_flight</a:t>
            </a:r>
            <a:endParaRPr sz="2000" b="1">
              <a:solidFill>
                <a:srgbClr val="188038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Define: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booking_code</a:t>
            </a:r>
            <a:r>
              <a:rPr lang="en-US" sz="2000"/>
              <a:t> slot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-US" sz="2000"/>
              <a:t>Create responses: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utter_ask_cancel_code</a:t>
            </a:r>
            <a:r>
              <a:rPr lang="en-US" sz="2000"/>
              <a:t>: prompt for booking code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utter_cancellation_successful</a:t>
            </a:r>
            <a:r>
              <a:rPr lang="en-US" sz="2000"/>
              <a:t>: confirmation if cancel is valid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</a:rPr>
              <a:t>utter_cancellation_denied</a:t>
            </a:r>
            <a:r>
              <a:rPr lang="en-US" sz="2000"/>
              <a:t>: if cancelation fails due to rules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Optionally: </a:t>
            </a:r>
            <a:r>
              <a:rPr lang="en-US" sz="2000">
                <a:solidFill>
                  <a:srgbClr val="188038"/>
                </a:solidFill>
              </a:rPr>
              <a:t>utter_booking_not_found</a:t>
            </a:r>
            <a:r>
              <a:rPr lang="en-US" sz="2000"/>
              <a:t> if the code is invalid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05" name="Google Shape;505;g35126ea4335_0_22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5126ea4335_0_232"/>
          <p:cNvSpPr txBox="1">
            <a:spLocks noGrp="1"/>
          </p:cNvSpPr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Cancel Booking: Step-by-Step Implementation</a:t>
            </a:r>
            <a:endParaRPr/>
          </a:p>
        </p:txBody>
      </p:sp>
      <p:sp>
        <p:nvSpPr>
          <p:cNvPr id="512" name="Google Shape;512;g35126ea4335_0_232"/>
          <p:cNvSpPr txBox="1">
            <a:spLocks noGrp="1"/>
          </p:cNvSpPr>
          <p:nvPr>
            <p:ph type="body" idx="1"/>
          </p:nvPr>
        </p:nvSpPr>
        <p:spPr>
          <a:xfrm>
            <a:off x="297300" y="931650"/>
            <a:ext cx="8549400" cy="499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Step 2: Logic in Custom Action </a:t>
            </a:r>
            <a:r>
              <a:rPr lang="en-US" sz="1800" b="1">
                <a:solidFill>
                  <a:srgbClr val="188038"/>
                </a:solidFill>
              </a:rPr>
              <a:t>action_cancel_booking</a:t>
            </a:r>
            <a:endParaRPr sz="1800" b="1">
              <a:solidFill>
                <a:srgbClr val="1880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Inside the action: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Retrieve </a:t>
            </a:r>
            <a:r>
              <a:rPr lang="en-US" sz="1800">
                <a:solidFill>
                  <a:srgbClr val="188038"/>
                </a:solidFill>
              </a:rPr>
              <a:t>booking_code</a:t>
            </a:r>
            <a:r>
              <a:rPr lang="en-US" sz="1800"/>
              <a:t> from the tracker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-US" sz="1800"/>
              <a:t>Find the booking record (from in-memory list or CSV file)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Check these </a:t>
            </a:r>
            <a:r>
              <a:rPr lang="en-US" sz="1800" b="1"/>
              <a:t>2 cancellation rules</a:t>
            </a:r>
            <a:r>
              <a:rPr lang="en-US" sz="1800"/>
              <a:t>:</a:t>
            </a:r>
            <a:br>
              <a:rPr lang="en-US" sz="1800"/>
            </a:br>
            <a:r>
              <a:rPr lang="en-US" sz="1800" b="1"/>
              <a:t>1. Class Type Rule</a:t>
            </a:r>
            <a:endParaRPr sz="1800" b="1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-US" sz="1800"/>
              <a:t>Business, Premium → allowed to cancel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-US" sz="1800"/>
              <a:t>Economy → not allowed to cancel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-US" sz="1800" b="1"/>
              <a:t>2. Flight Date Rule</a:t>
            </a:r>
            <a:endParaRPr sz="1800" b="1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Only allow cancellation if today’s date </a:t>
            </a:r>
            <a:r>
              <a:rPr lang="en-US" sz="1800">
                <a:solidFill>
                  <a:srgbClr val="188038"/>
                </a:solidFill>
              </a:rPr>
              <a:t>&lt;</a:t>
            </a:r>
            <a:r>
              <a:rPr lang="en-US" sz="1800"/>
              <a:t> travel date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(You can use </a:t>
            </a:r>
            <a:r>
              <a:rPr lang="en-US" sz="1800">
                <a:solidFill>
                  <a:srgbClr val="188038"/>
                </a:solidFill>
              </a:rPr>
              <a:t>datetime.strptime()</a:t>
            </a:r>
            <a:r>
              <a:rPr lang="en-US" sz="1800"/>
              <a:t> and </a:t>
            </a:r>
            <a:r>
              <a:rPr lang="en-US" sz="1800">
                <a:solidFill>
                  <a:srgbClr val="188038"/>
                </a:solidFill>
              </a:rPr>
              <a:t>datetime.now()</a:t>
            </a:r>
            <a:r>
              <a:rPr lang="en-US" sz="1800"/>
              <a:t> to compare)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-US" sz="1800"/>
              <a:t>Based on the result: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-US" sz="1800"/>
              <a:t>If both conditions are met → confirm cancellation + optionally remove or mark booking as canceled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-US" sz="1800"/>
              <a:t>Else → inform user that cancellation is not allowed (specify reason)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3" name="Google Shape;513;g35126ea4335_0_232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"/>
          <p:cNvSpPr txBox="1">
            <a:spLocks noGrp="1"/>
          </p:cNvSpPr>
          <p:nvPr>
            <p:ph type="sldNum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519" name="Google Shape;519;p13"/>
          <p:cNvSpPr txBox="1"/>
          <p:nvPr/>
        </p:nvSpPr>
        <p:spPr>
          <a:xfrm>
            <a:off x="4181094" y="3021991"/>
            <a:ext cx="4197975" cy="81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50D6581FAC4045939D220307D9E264" ma:contentTypeVersion="0" ma:contentTypeDescription="Create a new document." ma:contentTypeScope="" ma:versionID="ae418713ffff9d5e11f32a915ae8012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FB16AE-955F-4864-8A27-C4289192D018}"/>
</file>

<file path=customXml/itemProps2.xml><?xml version="1.0" encoding="utf-8"?>
<ds:datastoreItem xmlns:ds="http://schemas.openxmlformats.org/officeDocument/2006/customXml" ds:itemID="{498D9D56-3810-4EF4-89C4-80466DEC82F0}"/>
</file>

<file path=customXml/itemProps3.xml><?xml version="1.0" encoding="utf-8"?>
<ds:datastoreItem xmlns:ds="http://schemas.openxmlformats.org/officeDocument/2006/customXml" ds:itemID="{BE34BA36-3D01-41B1-B367-48E10655F0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3372</Words>
  <Application>Microsoft Office PowerPoint</Application>
  <PresentationFormat>On-screen Show (4:3)</PresentationFormat>
  <Paragraphs>496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Lato</vt:lpstr>
      <vt:lpstr>Roboto Mono</vt:lpstr>
      <vt:lpstr>Arial</vt:lpstr>
      <vt:lpstr>Roboto</vt:lpstr>
      <vt:lpstr>Calibri</vt:lpstr>
      <vt:lpstr>Office Theme</vt:lpstr>
      <vt:lpstr>PowerPoint Presentation</vt:lpstr>
      <vt:lpstr>PowerPoint Presentation</vt:lpstr>
      <vt:lpstr>Learning Objectives</vt:lpstr>
      <vt:lpstr>Why Use Rasa?</vt:lpstr>
      <vt:lpstr>Overview of Rasa's Architecture</vt:lpstr>
      <vt:lpstr>Project Introduction: AI Travel Booking Assistant</vt:lpstr>
      <vt:lpstr>Project Objectives</vt:lpstr>
      <vt:lpstr>Use Case Overview</vt:lpstr>
      <vt:lpstr>System Architecture</vt:lpstr>
      <vt:lpstr>Install and Setup</vt:lpstr>
      <vt:lpstr>Install and Setup</vt:lpstr>
      <vt:lpstr>Install and Setup</vt:lpstr>
      <vt:lpstr>Project Directory Structure</vt:lpstr>
      <vt:lpstr>Flows</vt:lpstr>
      <vt:lpstr>Basic Structure of a Flow</vt:lpstr>
      <vt:lpstr>Basic Structure of a Flow</vt:lpstr>
      <vt:lpstr>Key Components of a Flow</vt:lpstr>
      <vt:lpstr>Key Components of a Flow</vt:lpstr>
      <vt:lpstr>Managing Slots After Flow Completion</vt:lpstr>
      <vt:lpstr>Domain </vt:lpstr>
      <vt:lpstr>Domain</vt:lpstr>
      <vt:lpstr>Custom Actions</vt:lpstr>
      <vt:lpstr>Custom Actions</vt:lpstr>
      <vt:lpstr>Rasa NLU </vt:lpstr>
      <vt:lpstr>Rasa NLU</vt:lpstr>
      <vt:lpstr>Rasa NLU</vt:lpstr>
      <vt:lpstr>Practical Exercise</vt:lpstr>
      <vt:lpstr>From Rasa NLU to Rasa CALM</vt:lpstr>
      <vt:lpstr>Introduction to Rasa CALM</vt:lpstr>
      <vt:lpstr>Key Features of Rasa CALM   </vt:lpstr>
      <vt:lpstr>Key Features of Rasa CALM    </vt:lpstr>
      <vt:lpstr>Searching for Flights: Functional Requirements</vt:lpstr>
      <vt:lpstr>Searching for Flights: Expected Result</vt:lpstr>
      <vt:lpstr>Searching for Flights: Step-by-Step Implementation</vt:lpstr>
      <vt:lpstr>Searching for Flights: Step-by-Step Implementation</vt:lpstr>
      <vt:lpstr>Searching for Flights: Step-by-Step Implementation</vt:lpstr>
      <vt:lpstr>Searching for Flights: Step-by-Step Implementation</vt:lpstr>
      <vt:lpstr>Testing Your Rasa Assistant</vt:lpstr>
      <vt:lpstr>Booking Flights: Functional Requirements</vt:lpstr>
      <vt:lpstr>Booking Flights: Expected Result</vt:lpstr>
      <vt:lpstr>Booking Flights: Step-by-Step Implementation</vt:lpstr>
      <vt:lpstr>Booking Flights: Step-by-Step Implementation</vt:lpstr>
      <vt:lpstr>Booking Flights: Step-by-Step Implementation</vt:lpstr>
      <vt:lpstr>Booking Flights: Step-by-Step Implementation</vt:lpstr>
      <vt:lpstr>Check Booking Infor:  Functional Requirements </vt:lpstr>
      <vt:lpstr>Check Booking Infor: Expected Result</vt:lpstr>
      <vt:lpstr>Check Booking Infor: Step-by-Step Implementation</vt:lpstr>
      <vt:lpstr>Check Booking Infor: Step-by-Step Implementation </vt:lpstr>
      <vt:lpstr>Cancel Booking: Functional Requirements</vt:lpstr>
      <vt:lpstr>Cancel Booking: Expected Result</vt:lpstr>
      <vt:lpstr>Cancel Booking: Step-by-Step Implementation</vt:lpstr>
      <vt:lpstr>Cancel Booking: Step-by-Step 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Phong TT &amp; QTTH</dc:creator>
  <cp:lastModifiedBy>Linh VN</cp:lastModifiedBy>
  <cp:revision>1</cp:revision>
  <dcterms:created xsi:type="dcterms:W3CDTF">2021-05-28T04:32:29Z</dcterms:created>
  <dcterms:modified xsi:type="dcterms:W3CDTF">2025-05-06T03:24:01Z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0x0101005450D6581FAC4045939D220307D9E264</vt:lpwstr>
  </property>
</Properties>
</file>